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we'll walk through our Online Shopping Database project, built for the Database Management Systems course. We'll cover the relational architecture, security mechanisms like SHA-256 hashing, role-based access control, and our testing results. This system is designed to balance ease of use for customers with robust security for administrators.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database uses a relational model — the gold standard for e-commerce systems. It has four core entities: Customers for identity and login, Products &amp; Categories for the catalog, Orders for purchase records, and Deliveries for shipping status. The Products table on the right shows how foreign keys link categories to products, ensuring referential integrity. This design prevents orphaned records and keeps data consistent across all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into security — one of the most critical aspects of any database system. We'll cover three areas: password hashing with SHA-256, role-based access control (RBAC), and enforcement through GRANT and REVOKE commands. Each layer is designed to protect data even if one layer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password security, we use SHA-256 — a one-way cryptographic hash function. When a user sets their password, we run it through SHA2() in MySQL before saving it. This produces a 64-character hash that cannot be reversed. So even if an attacker gains access to the database, they see only gibberish — not the real password. This is a fundamental best practice: never store plaintext passwords.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RBAC — Role-Based Access Control — is how we control who can do what in the database. We have two roles. The Admin role has full privileges: create, read, update, delete, and system management. The Customer role is intentionally restricted: they can only SELECT and INSERT. This means a customer can browse products and place orders, but they absolutely cannot delete records. This protects order history and prevents accidental or malicious data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enforce access control using SQL's GRANT and REVOKE commands. First, we GRANT SELECT and INSERT to the customer_user — giving them read and write access for browsing and ordering. Then we explicitly REVOKE DELETE from the same user as a safety lock. This two-step approach means even if someone tries to escalate privileges, DELETE is explicitly blocked. The three key benefits: no accidental deletion, protection from malicious users, and intact audit trails for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three scenarios using the MySQL CLI to validate our security model. Test 1 — Admin Access: the admin successfully deleted Product ID #5, confirming full admin privileges work. Test 2 — User Restriction: when the customer_user tried to delete a record, MySQL returned ERROR 1142 Access Denied — exactly what we designed. Test 3 — Data Privacy: querying the Password column returned only the SHA-256 hash, never the original password. All three tests passed, confirming our refusal logic works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our Online Shopping Database demonstrates a complete, production-ready security posture. We use a relational model for data integrity, SHA-256 hashing for password privacy, and RBAC with REVOKE for strict access control. All security tests passed. The system is designed so customers get a smooth shopping experience while administrators retain full control. Thank you — we're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F24"/>
        </a:solidFill>
      </p:bgPr>
    </p:bg>
    <p:spTree>
      <p:nvGrpSpPr>
        <p:cNvPr id="1" name=""/>
        <p:cNvGrpSpPr/>
        <p:nvPr/>
      </p:nvGrpSpPr>
      <p:grpSpPr>
        <a:xfrm>
          <a:off x="0" y="0"/>
          <a:ext cx="0" cy="0"/>
          <a:chOff x="0" y="0"/>
          <a:chExt cx="0" cy="0"/>
        </a:xfrm>
      </p:grpSpPr>
      <p:sp>
        <p:nvSpPr>
          <p:cNvPr id="2" name="Shape 0"/>
          <p:cNvSpPr/>
          <p:nvPr/>
        </p:nvSpPr>
        <p:spPr>
          <a:xfrm>
            <a:off x="6858000" y="-1371600"/>
            <a:ext cx="4114800" cy="4114800"/>
          </a:xfrm>
          <a:prstGeom prst="ellipse">
            <a:avLst/>
          </a:prstGeom>
          <a:solidFill>
            <a:srgbClr val="1E3A8A">
              <a:alpha val="40000"/>
            </a:srgbClr>
          </a:solidFill>
          <a:ln w="12700">
            <a:solidFill>
              <a:srgbClr val="1E3A8A"/>
            </a:solidFill>
            <a:prstDash val="solid"/>
          </a:ln>
        </p:spPr>
      </p:sp>
      <p:sp>
        <p:nvSpPr>
          <p:cNvPr id="3" name="Shape 1"/>
          <p:cNvSpPr/>
          <p:nvPr/>
        </p:nvSpPr>
        <p:spPr>
          <a:xfrm>
            <a:off x="7772400" y="-731520"/>
            <a:ext cx="2286000" cy="2286000"/>
          </a:xfrm>
          <a:prstGeom prst="ellipse">
            <a:avLst/>
          </a:prstGeom>
          <a:solidFill>
            <a:srgbClr val="2563EB">
              <a:alpha val="30000"/>
            </a:srgbClr>
          </a:solidFill>
          <a:ln w="12700">
            <a:solidFill>
              <a:srgbClr val="2563EB"/>
            </a:solidFill>
            <a:prstDash val="solid"/>
          </a:ln>
        </p:spPr>
      </p:sp>
      <p:sp>
        <p:nvSpPr>
          <p:cNvPr id="4" name="Shape 2"/>
          <p:cNvSpPr/>
          <p:nvPr/>
        </p:nvSpPr>
        <p:spPr>
          <a:xfrm>
            <a:off x="-1097280" y="3200400"/>
            <a:ext cx="3200400" cy="3200400"/>
          </a:xfrm>
          <a:prstGeom prst="ellipse">
            <a:avLst/>
          </a:prstGeom>
          <a:solidFill>
            <a:srgbClr val="1E3A8A">
              <a:alpha val="35000"/>
            </a:srgbClr>
          </a:solidFill>
          <a:ln w="12700">
            <a:solidFill>
              <a:srgbClr val="1E3A8A"/>
            </a:solidFill>
            <a:prstDash val="solid"/>
          </a:ln>
        </p:spPr>
      </p:sp>
      <p:pic>
        <p:nvPicPr>
          <p:cNvPr id="5" name="Image 0" descr="preencoded.png">    </p:cNvPr>
          <p:cNvPicPr>
            <a:picLocks noChangeAspect="1"/>
          </p:cNvPicPr>
          <p:nvPr/>
        </p:nvPicPr>
        <p:blipFill>
          <a:blip r:embed="rId1"/>
          <a:stretch>
            <a:fillRect/>
          </a:stretch>
        </p:blipFill>
        <p:spPr>
          <a:xfrm>
            <a:off x="3886200" y="594360"/>
            <a:ext cx="1371600" cy="1371600"/>
          </a:xfrm>
          <a:prstGeom prst="rect">
            <a:avLst/>
          </a:prstGeom>
        </p:spPr>
      </p:pic>
      <p:sp>
        <p:nvSpPr>
          <p:cNvPr id="6" name="Text 3"/>
          <p:cNvSpPr/>
          <p:nvPr/>
        </p:nvSpPr>
        <p:spPr>
          <a:xfrm>
            <a:off x="457200" y="2103120"/>
            <a:ext cx="8229600" cy="1097280"/>
          </a:xfrm>
          <a:prstGeom prst="rect">
            <a:avLst/>
          </a:prstGeom>
          <a:noFill/>
          <a:ln/>
        </p:spPr>
        <p:txBody>
          <a:bodyPr wrap="square"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Online Shopping Database</a:t>
            </a:r>
            <a:endParaRPr lang="en-US" sz="4200" dirty="0"/>
          </a:p>
        </p:txBody>
      </p:sp>
      <p:sp>
        <p:nvSpPr>
          <p:cNvPr id="7" name="Shape 4"/>
          <p:cNvSpPr/>
          <p:nvPr/>
        </p:nvSpPr>
        <p:spPr>
          <a:xfrm>
            <a:off x="2286000" y="3383280"/>
            <a:ext cx="4572000" cy="457200"/>
          </a:xfrm>
          <a:prstGeom prst="roundRect">
            <a:avLst>
              <a:gd name="adj" fmla="val 24000"/>
            </a:avLst>
          </a:prstGeom>
          <a:solidFill>
            <a:srgbClr val="2563EB">
              <a:alpha val="80000"/>
            </a:srgbClr>
          </a:solidFill>
          <a:ln w="12700">
            <a:solidFill>
              <a:srgbClr val="2563EB"/>
            </a:solidFill>
            <a:prstDash val="solid"/>
          </a:ln>
        </p:spPr>
      </p:sp>
      <p:sp>
        <p:nvSpPr>
          <p:cNvPr id="8" name="Text 5"/>
          <p:cNvSpPr/>
          <p:nvPr/>
        </p:nvSpPr>
        <p:spPr>
          <a:xfrm>
            <a:off x="2286000" y="3383280"/>
            <a:ext cx="457200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Project Presentation &amp; Security Implementation</a:t>
            </a:r>
            <a:endParaRPr lang="en-US" sz="1300" dirty="0"/>
          </a:p>
        </p:txBody>
      </p:sp>
      <p:sp>
        <p:nvSpPr>
          <p:cNvPr id="9" name="Text 6"/>
          <p:cNvSpPr/>
          <p:nvPr/>
        </p:nvSpPr>
        <p:spPr>
          <a:xfrm>
            <a:off x="457200" y="4114800"/>
            <a:ext cx="8229600" cy="365760"/>
          </a:xfrm>
          <a:prstGeom prst="rect">
            <a:avLst/>
          </a:prstGeom>
          <a:noFill/>
          <a:ln/>
        </p:spPr>
        <p:txBody>
          <a:bodyPr wrap="square" rtlCol="0" anchor="ctr"/>
          <a:lstStyle/>
          <a:p>
            <a:pPr algn="ctr" indent="0" marL="0">
              <a:buNone/>
            </a:pPr>
            <a:r>
              <a:rPr lang="en-US" sz="1300" i="1" dirty="0">
                <a:solidFill>
                  <a:srgbClr val="60A5FA"/>
                </a:solidFill>
                <a:latin typeface="Calibri" pitchFamily="34" charset="0"/>
                <a:ea typeface="Calibri" pitchFamily="34" charset="-122"/>
                <a:cs typeface="Calibri" pitchFamily="34" charset="-120"/>
              </a:rPr>
              <a:t>Course: Database Management Systems</a:t>
            </a:r>
            <a:endParaRPr lang="en-US" sz="1300" dirty="0"/>
          </a:p>
        </p:txBody>
      </p:sp>
      <p:sp>
        <p:nvSpPr>
          <p:cNvPr id="10" name="Shape 7"/>
          <p:cNvSpPr/>
          <p:nvPr/>
        </p:nvSpPr>
        <p:spPr>
          <a:xfrm>
            <a:off x="0" y="4983480"/>
            <a:ext cx="9144000" cy="160020"/>
          </a:xfrm>
          <a:prstGeom prst="rect">
            <a:avLst/>
          </a:prstGeom>
          <a:solidFill>
            <a:srgbClr val="2563EB"/>
          </a:solidFill>
          <a:ln w="12700">
            <a:solidFill>
              <a:srgbClr val="2563E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1B3C"/>
          </a:solidFill>
          <a:ln w="12700">
            <a:solidFill>
              <a:srgbClr val="0F1B3C"/>
            </a:solidFill>
            <a:prstDash val="solid"/>
          </a:ln>
        </p:spPr>
      </p:sp>
      <p:sp>
        <p:nvSpPr>
          <p:cNvPr id="3" name="Text 1"/>
          <p:cNvSpPr/>
          <p:nvPr/>
        </p:nvSpPr>
        <p:spPr>
          <a:xfrm>
            <a:off x="457200" y="0"/>
            <a:ext cx="8229600" cy="9601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Database Architecture</a:t>
            </a:r>
            <a:endParaRPr lang="en-US" sz="3000" dirty="0"/>
          </a:p>
        </p:txBody>
      </p:sp>
      <p:sp>
        <p:nvSpPr>
          <p:cNvPr id="4" name="Shape 2"/>
          <p:cNvSpPr/>
          <p:nvPr/>
        </p:nvSpPr>
        <p:spPr>
          <a:xfrm>
            <a:off x="320040" y="1143000"/>
            <a:ext cx="3931920" cy="749808"/>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8000"/>
              </a:srgbClr>
            </a:outerShdw>
          </a:effectLst>
        </p:spPr>
      </p:sp>
      <p:sp>
        <p:nvSpPr>
          <p:cNvPr id="5" name="Shape 3"/>
          <p:cNvSpPr/>
          <p:nvPr/>
        </p:nvSpPr>
        <p:spPr>
          <a:xfrm>
            <a:off x="320040" y="1143000"/>
            <a:ext cx="64008" cy="749808"/>
          </a:xfrm>
          <a:prstGeom prst="rect">
            <a:avLst/>
          </a:prstGeom>
          <a:solidFill>
            <a:srgbClr val="3B82F6"/>
          </a:solidFill>
          <a:ln w="12700">
            <a:solidFill>
              <a:srgbClr val="3B82F6"/>
            </a:solidFill>
            <a:prstDash val="solid"/>
          </a:ln>
        </p:spPr>
      </p:sp>
      <p:pic>
        <p:nvPicPr>
          <p:cNvPr id="6" name="Image 0" descr="preencoded.png">    </p:cNvPr>
          <p:cNvPicPr>
            <a:picLocks noChangeAspect="1"/>
          </p:cNvPicPr>
          <p:nvPr/>
        </p:nvPicPr>
        <p:blipFill>
          <a:blip r:embed="rId1"/>
          <a:stretch>
            <a:fillRect/>
          </a:stretch>
        </p:blipFill>
        <p:spPr>
          <a:xfrm>
            <a:off x="502920" y="1307592"/>
            <a:ext cx="411480" cy="411480"/>
          </a:xfrm>
          <a:prstGeom prst="rect">
            <a:avLst/>
          </a:prstGeom>
        </p:spPr>
      </p:pic>
      <p:sp>
        <p:nvSpPr>
          <p:cNvPr id="7" name="Text 4"/>
          <p:cNvSpPr/>
          <p:nvPr/>
        </p:nvSpPr>
        <p:spPr>
          <a:xfrm>
            <a:off x="1024128" y="1216152"/>
            <a:ext cx="3108960" cy="310896"/>
          </a:xfrm>
          <a:prstGeom prst="rect">
            <a:avLst/>
          </a:prstGeom>
          <a:noFill/>
          <a:ln/>
        </p:spPr>
        <p:txBody>
          <a:bodyPr wrap="square" rtlCol="0" anchor="ctr"/>
          <a:lstStyle/>
          <a:p>
            <a:pPr indent="0" marL="0">
              <a:buNone/>
            </a:pPr>
            <a:r>
              <a:rPr lang="en-US" sz="1300" b="1" dirty="0">
                <a:solidFill>
                  <a:srgbClr val="0F1B3C"/>
                </a:solidFill>
                <a:latin typeface="Calibri" pitchFamily="34" charset="0"/>
                <a:ea typeface="Calibri" pitchFamily="34" charset="-122"/>
                <a:cs typeface="Calibri" pitchFamily="34" charset="-120"/>
              </a:rPr>
              <a:t>Customers</a:t>
            </a:r>
            <a:endParaRPr lang="en-US" sz="1300" dirty="0"/>
          </a:p>
        </p:txBody>
      </p:sp>
      <p:sp>
        <p:nvSpPr>
          <p:cNvPr id="8" name="Text 5"/>
          <p:cNvSpPr/>
          <p:nvPr/>
        </p:nvSpPr>
        <p:spPr>
          <a:xfrm>
            <a:off x="1024128" y="1527048"/>
            <a:ext cx="3108960" cy="27432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Identity &amp; Authentication</a:t>
            </a:r>
            <a:endParaRPr lang="en-US" sz="1100" dirty="0"/>
          </a:p>
        </p:txBody>
      </p:sp>
      <p:sp>
        <p:nvSpPr>
          <p:cNvPr id="9" name="Shape 6"/>
          <p:cNvSpPr/>
          <p:nvPr/>
        </p:nvSpPr>
        <p:spPr>
          <a:xfrm>
            <a:off x="320040" y="2011680"/>
            <a:ext cx="3931920" cy="749808"/>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8000"/>
              </a:srgbClr>
            </a:outerShdw>
          </a:effectLst>
        </p:spPr>
      </p:sp>
      <p:sp>
        <p:nvSpPr>
          <p:cNvPr id="10" name="Shape 7"/>
          <p:cNvSpPr/>
          <p:nvPr/>
        </p:nvSpPr>
        <p:spPr>
          <a:xfrm>
            <a:off x="320040" y="2011680"/>
            <a:ext cx="64008" cy="749808"/>
          </a:xfrm>
          <a:prstGeom prst="rect">
            <a:avLst/>
          </a:prstGeom>
          <a:solidFill>
            <a:srgbClr val="8B5CF6"/>
          </a:solidFill>
          <a:ln w="12700">
            <a:solidFill>
              <a:srgbClr val="8B5CF6"/>
            </a:solidFill>
            <a:prstDash val="solid"/>
          </a:ln>
        </p:spPr>
      </p:sp>
      <p:pic>
        <p:nvPicPr>
          <p:cNvPr id="11" name="Image 1" descr="preencoded.png">    </p:cNvPr>
          <p:cNvPicPr>
            <a:picLocks noChangeAspect="1"/>
          </p:cNvPicPr>
          <p:nvPr/>
        </p:nvPicPr>
        <p:blipFill>
          <a:blip r:embed="rId2"/>
          <a:stretch>
            <a:fillRect/>
          </a:stretch>
        </p:blipFill>
        <p:spPr>
          <a:xfrm>
            <a:off x="502920" y="2176272"/>
            <a:ext cx="411480" cy="411480"/>
          </a:xfrm>
          <a:prstGeom prst="rect">
            <a:avLst/>
          </a:prstGeom>
        </p:spPr>
      </p:pic>
      <p:sp>
        <p:nvSpPr>
          <p:cNvPr id="12" name="Text 8"/>
          <p:cNvSpPr/>
          <p:nvPr/>
        </p:nvSpPr>
        <p:spPr>
          <a:xfrm>
            <a:off x="1024128" y="2084832"/>
            <a:ext cx="3108960" cy="310896"/>
          </a:xfrm>
          <a:prstGeom prst="rect">
            <a:avLst/>
          </a:prstGeom>
          <a:noFill/>
          <a:ln/>
        </p:spPr>
        <p:txBody>
          <a:bodyPr wrap="square" rtlCol="0" anchor="ctr"/>
          <a:lstStyle/>
          <a:p>
            <a:pPr indent="0" marL="0">
              <a:buNone/>
            </a:pPr>
            <a:r>
              <a:rPr lang="en-US" sz="1300" b="1" dirty="0">
                <a:solidFill>
                  <a:srgbClr val="0F1B3C"/>
                </a:solidFill>
                <a:latin typeface="Calibri" pitchFamily="34" charset="0"/>
                <a:ea typeface="Calibri" pitchFamily="34" charset="-122"/>
                <a:cs typeface="Calibri" pitchFamily="34" charset="-120"/>
              </a:rPr>
              <a:t>Products &amp; Categories</a:t>
            </a:r>
            <a:endParaRPr lang="en-US" sz="1300" dirty="0"/>
          </a:p>
        </p:txBody>
      </p:sp>
      <p:sp>
        <p:nvSpPr>
          <p:cNvPr id="13" name="Text 9"/>
          <p:cNvSpPr/>
          <p:nvPr/>
        </p:nvSpPr>
        <p:spPr>
          <a:xfrm>
            <a:off x="1024128" y="2395728"/>
            <a:ext cx="3108960" cy="27432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Inventory Management</a:t>
            </a:r>
            <a:endParaRPr lang="en-US" sz="1100" dirty="0"/>
          </a:p>
        </p:txBody>
      </p:sp>
      <p:sp>
        <p:nvSpPr>
          <p:cNvPr id="14" name="Shape 10"/>
          <p:cNvSpPr/>
          <p:nvPr/>
        </p:nvSpPr>
        <p:spPr>
          <a:xfrm>
            <a:off x="320040" y="2880360"/>
            <a:ext cx="3931920" cy="749808"/>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8000"/>
              </a:srgbClr>
            </a:outerShdw>
          </a:effectLst>
        </p:spPr>
      </p:sp>
      <p:sp>
        <p:nvSpPr>
          <p:cNvPr id="15" name="Shape 11"/>
          <p:cNvSpPr/>
          <p:nvPr/>
        </p:nvSpPr>
        <p:spPr>
          <a:xfrm>
            <a:off x="320040" y="2880360"/>
            <a:ext cx="64008" cy="749808"/>
          </a:xfrm>
          <a:prstGeom prst="rect">
            <a:avLst/>
          </a:prstGeom>
          <a:solidFill>
            <a:srgbClr val="10B981"/>
          </a:solidFill>
          <a:ln w="12700">
            <a:solidFill>
              <a:srgbClr val="10B981"/>
            </a:solidFill>
            <a:prstDash val="solid"/>
          </a:ln>
        </p:spPr>
      </p:sp>
      <p:pic>
        <p:nvPicPr>
          <p:cNvPr id="16" name="Image 2" descr="preencoded.png">    </p:cNvPr>
          <p:cNvPicPr>
            <a:picLocks noChangeAspect="1"/>
          </p:cNvPicPr>
          <p:nvPr/>
        </p:nvPicPr>
        <p:blipFill>
          <a:blip r:embed="rId3"/>
          <a:stretch>
            <a:fillRect/>
          </a:stretch>
        </p:blipFill>
        <p:spPr>
          <a:xfrm>
            <a:off x="502920" y="3044952"/>
            <a:ext cx="411480" cy="411480"/>
          </a:xfrm>
          <a:prstGeom prst="rect">
            <a:avLst/>
          </a:prstGeom>
        </p:spPr>
      </p:pic>
      <p:sp>
        <p:nvSpPr>
          <p:cNvPr id="17" name="Text 12"/>
          <p:cNvSpPr/>
          <p:nvPr/>
        </p:nvSpPr>
        <p:spPr>
          <a:xfrm>
            <a:off x="1024128" y="2953512"/>
            <a:ext cx="3108960" cy="310896"/>
          </a:xfrm>
          <a:prstGeom prst="rect">
            <a:avLst/>
          </a:prstGeom>
          <a:noFill/>
          <a:ln/>
        </p:spPr>
        <p:txBody>
          <a:bodyPr wrap="square" rtlCol="0" anchor="ctr"/>
          <a:lstStyle/>
          <a:p>
            <a:pPr indent="0" marL="0">
              <a:buNone/>
            </a:pPr>
            <a:r>
              <a:rPr lang="en-US" sz="1300" b="1" dirty="0">
                <a:solidFill>
                  <a:srgbClr val="0F1B3C"/>
                </a:solidFill>
                <a:latin typeface="Calibri" pitchFamily="34" charset="0"/>
                <a:ea typeface="Calibri" pitchFamily="34" charset="-122"/>
                <a:cs typeface="Calibri" pitchFamily="34" charset="-120"/>
              </a:rPr>
              <a:t>Orders</a:t>
            </a:r>
            <a:endParaRPr lang="en-US" sz="1300" dirty="0"/>
          </a:p>
        </p:txBody>
      </p:sp>
      <p:sp>
        <p:nvSpPr>
          <p:cNvPr id="18" name="Text 13"/>
          <p:cNvSpPr/>
          <p:nvPr/>
        </p:nvSpPr>
        <p:spPr>
          <a:xfrm>
            <a:off x="1024128" y="3264408"/>
            <a:ext cx="3108960" cy="27432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Transactional Records</a:t>
            </a:r>
            <a:endParaRPr lang="en-US" sz="1100" dirty="0"/>
          </a:p>
        </p:txBody>
      </p:sp>
      <p:sp>
        <p:nvSpPr>
          <p:cNvPr id="19" name="Shape 14"/>
          <p:cNvSpPr/>
          <p:nvPr/>
        </p:nvSpPr>
        <p:spPr>
          <a:xfrm>
            <a:off x="320040" y="3749040"/>
            <a:ext cx="3931920" cy="749808"/>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8000"/>
              </a:srgbClr>
            </a:outerShdw>
          </a:effectLst>
        </p:spPr>
      </p:sp>
      <p:sp>
        <p:nvSpPr>
          <p:cNvPr id="20" name="Shape 15"/>
          <p:cNvSpPr/>
          <p:nvPr/>
        </p:nvSpPr>
        <p:spPr>
          <a:xfrm>
            <a:off x="320040" y="3749040"/>
            <a:ext cx="64008" cy="749808"/>
          </a:xfrm>
          <a:prstGeom prst="rect">
            <a:avLst/>
          </a:prstGeom>
          <a:solidFill>
            <a:srgbClr val="F59E0B"/>
          </a:solidFill>
          <a:ln w="12700">
            <a:solidFill>
              <a:srgbClr val="F59E0B"/>
            </a:solidFill>
            <a:prstDash val="solid"/>
          </a:ln>
        </p:spPr>
      </p:sp>
      <p:pic>
        <p:nvPicPr>
          <p:cNvPr id="21" name="Image 3" descr="preencoded.png">    </p:cNvPr>
          <p:cNvPicPr>
            <a:picLocks noChangeAspect="1"/>
          </p:cNvPicPr>
          <p:nvPr/>
        </p:nvPicPr>
        <p:blipFill>
          <a:blip r:embed="rId4"/>
          <a:stretch>
            <a:fillRect/>
          </a:stretch>
        </p:blipFill>
        <p:spPr>
          <a:xfrm>
            <a:off x="502920" y="3913632"/>
            <a:ext cx="411480" cy="411480"/>
          </a:xfrm>
          <a:prstGeom prst="rect">
            <a:avLst/>
          </a:prstGeom>
        </p:spPr>
      </p:pic>
      <p:sp>
        <p:nvSpPr>
          <p:cNvPr id="22" name="Text 16"/>
          <p:cNvSpPr/>
          <p:nvPr/>
        </p:nvSpPr>
        <p:spPr>
          <a:xfrm>
            <a:off x="1024128" y="3822192"/>
            <a:ext cx="3108960" cy="310896"/>
          </a:xfrm>
          <a:prstGeom prst="rect">
            <a:avLst/>
          </a:prstGeom>
          <a:noFill/>
          <a:ln/>
        </p:spPr>
        <p:txBody>
          <a:bodyPr wrap="square" rtlCol="0" anchor="ctr"/>
          <a:lstStyle/>
          <a:p>
            <a:pPr indent="0" marL="0">
              <a:buNone/>
            </a:pPr>
            <a:r>
              <a:rPr lang="en-US" sz="1300" b="1" dirty="0">
                <a:solidFill>
                  <a:srgbClr val="0F1B3C"/>
                </a:solidFill>
                <a:latin typeface="Calibri" pitchFamily="34" charset="0"/>
                <a:ea typeface="Calibri" pitchFamily="34" charset="-122"/>
                <a:cs typeface="Calibri" pitchFamily="34" charset="-120"/>
              </a:rPr>
              <a:t>Deliveries</a:t>
            </a:r>
            <a:endParaRPr lang="en-US" sz="1300" dirty="0"/>
          </a:p>
        </p:txBody>
      </p:sp>
      <p:sp>
        <p:nvSpPr>
          <p:cNvPr id="23" name="Text 17"/>
          <p:cNvSpPr/>
          <p:nvPr/>
        </p:nvSpPr>
        <p:spPr>
          <a:xfrm>
            <a:off x="1024128" y="4133088"/>
            <a:ext cx="3108960" cy="27432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Fulfillment Tracking</a:t>
            </a:r>
            <a:endParaRPr lang="en-US" sz="1100" dirty="0"/>
          </a:p>
        </p:txBody>
      </p:sp>
      <p:sp>
        <p:nvSpPr>
          <p:cNvPr id="24" name="Shape 18"/>
          <p:cNvSpPr/>
          <p:nvPr/>
        </p:nvSpPr>
        <p:spPr>
          <a:xfrm>
            <a:off x="4572000" y="1143000"/>
            <a:ext cx="4206240" cy="3474720"/>
          </a:xfrm>
          <a:prstGeom prst="rect">
            <a:avLst/>
          </a:prstGeom>
          <a:solidFill>
            <a:srgbClr val="111827"/>
          </a:solidFill>
          <a:ln w="12700">
            <a:solidFill>
              <a:srgbClr val="374151"/>
            </a:solidFill>
            <a:prstDash val="solid"/>
          </a:ln>
          <a:effectLst>
            <a:outerShdw sx="100000" sy="100000" kx="0" ky="0" algn="bl" rotWithShape="0" blurRad="127000" dist="38100" dir="8100000">
              <a:srgbClr val="000000">
                <a:alpha val="20000"/>
              </a:srgbClr>
            </a:outerShdw>
          </a:effectLst>
        </p:spPr>
      </p:sp>
      <p:sp>
        <p:nvSpPr>
          <p:cNvPr id="25" name="Shape 19"/>
          <p:cNvSpPr/>
          <p:nvPr/>
        </p:nvSpPr>
        <p:spPr>
          <a:xfrm>
            <a:off x="4754880" y="1298448"/>
            <a:ext cx="146304" cy="146304"/>
          </a:xfrm>
          <a:prstGeom prst="ellipse">
            <a:avLst/>
          </a:prstGeom>
          <a:solidFill>
            <a:srgbClr val="EF4444"/>
          </a:solidFill>
          <a:ln w="12700">
            <a:solidFill>
              <a:srgbClr val="EF4444"/>
            </a:solidFill>
            <a:prstDash val="solid"/>
          </a:ln>
        </p:spPr>
      </p:sp>
      <p:sp>
        <p:nvSpPr>
          <p:cNvPr id="26" name="Shape 20"/>
          <p:cNvSpPr/>
          <p:nvPr/>
        </p:nvSpPr>
        <p:spPr>
          <a:xfrm>
            <a:off x="5010912" y="1298448"/>
            <a:ext cx="146304" cy="146304"/>
          </a:xfrm>
          <a:prstGeom prst="ellipse">
            <a:avLst/>
          </a:prstGeom>
          <a:solidFill>
            <a:srgbClr val="F59E0B"/>
          </a:solidFill>
          <a:ln w="12700">
            <a:solidFill>
              <a:srgbClr val="F59E0B"/>
            </a:solidFill>
            <a:prstDash val="solid"/>
          </a:ln>
        </p:spPr>
      </p:sp>
      <p:sp>
        <p:nvSpPr>
          <p:cNvPr id="27" name="Shape 21"/>
          <p:cNvSpPr/>
          <p:nvPr/>
        </p:nvSpPr>
        <p:spPr>
          <a:xfrm>
            <a:off x="5266944" y="1298448"/>
            <a:ext cx="146304" cy="146304"/>
          </a:xfrm>
          <a:prstGeom prst="ellipse">
            <a:avLst/>
          </a:prstGeom>
          <a:solidFill>
            <a:srgbClr val="10B981"/>
          </a:solidFill>
          <a:ln w="12700">
            <a:solidFill>
              <a:srgbClr val="10B981"/>
            </a:solidFill>
            <a:prstDash val="solid"/>
          </a:ln>
        </p:spPr>
      </p:sp>
      <p:sp>
        <p:nvSpPr>
          <p:cNvPr id="28" name="Text 22"/>
          <p:cNvSpPr/>
          <p:nvPr/>
        </p:nvSpPr>
        <p:spPr>
          <a:xfrm>
            <a:off x="4709160" y="1572768"/>
            <a:ext cx="3931920" cy="2880360"/>
          </a:xfrm>
          <a:prstGeom prst="rect">
            <a:avLst/>
          </a:prstGeom>
          <a:noFill/>
          <a:ln/>
        </p:spPr>
        <p:txBody>
          <a:bodyPr wrap="square" rtlCol="0" anchor="ctr"/>
          <a:lstStyle/>
          <a:p>
            <a:pPr indent="0" marL="0">
              <a:buNone/>
            </a:pPr>
            <a:r>
              <a:rPr lang="en-US" sz="1100" dirty="0">
                <a:solidFill>
                  <a:srgbClr val="6B7280"/>
                </a:solidFill>
                <a:latin typeface="Consolas" pitchFamily="34" charset="0"/>
                <a:ea typeface="Consolas" pitchFamily="34" charset="-122"/>
                <a:cs typeface="Consolas" pitchFamily="34" charset="-120"/>
              </a:rPr>
              <a:t>-- Products Table Schema</a:t>
            </a:r>
            <a:endParaRPr lang="en-US" sz="1100" dirty="0"/>
          </a:p>
          <a:p>
            <a:pPr indent="0" marL="0">
              <a:buNone/>
            </a:pPr>
            <a:r>
              <a:rPr lang="en-US" sz="1100" dirty="0">
                <a:solidFill>
                  <a:srgbClr val="60A5FA"/>
                </a:solidFill>
                <a:latin typeface="Consolas" pitchFamily="34" charset="0"/>
                <a:ea typeface="Consolas" pitchFamily="34" charset="-122"/>
                <a:cs typeface="Consolas" pitchFamily="34" charset="-120"/>
              </a:rPr>
              <a:t>CREATE TABLE Products (</a:t>
            </a:r>
            <a:endParaRPr lang="en-US" sz="1100" dirty="0"/>
          </a:p>
          <a:p>
            <a:pPr indent="0" marL="0">
              <a:buNone/>
            </a:pPr>
            <a:r>
              <a:rPr lang="en-US" sz="1100" dirty="0">
                <a:solidFill>
                  <a:srgbClr val="D1FAE5"/>
                </a:solidFill>
                <a:latin typeface="Consolas" pitchFamily="34" charset="0"/>
                <a:ea typeface="Consolas" pitchFamily="34" charset="-122"/>
                <a:cs typeface="Consolas" pitchFamily="34" charset="-120"/>
              </a:rPr>
              <a:t>  ProductID  INT PRIMARY KEY,</a:t>
            </a:r>
            <a:endParaRPr lang="en-US" sz="1100" dirty="0"/>
          </a:p>
          <a:p>
            <a:pPr indent="0" marL="0">
              <a:buNone/>
            </a:pPr>
            <a:r>
              <a:rPr lang="en-US" sz="1100" dirty="0">
                <a:solidFill>
                  <a:srgbClr val="D1FAE5"/>
                </a:solidFill>
                <a:latin typeface="Consolas" pitchFamily="34" charset="0"/>
                <a:ea typeface="Consolas" pitchFamily="34" charset="-122"/>
                <a:cs typeface="Consolas" pitchFamily="34" charset="-120"/>
              </a:rPr>
              <a:t>  Name       VARCHAR(100),</a:t>
            </a:r>
            <a:endParaRPr lang="en-US" sz="1100" dirty="0"/>
          </a:p>
          <a:p>
            <a:pPr indent="0" marL="0">
              <a:buNone/>
            </a:pPr>
            <a:r>
              <a:rPr lang="en-US" sz="1100" dirty="0">
                <a:solidFill>
                  <a:srgbClr val="D1FAE5"/>
                </a:solidFill>
                <a:latin typeface="Consolas" pitchFamily="34" charset="0"/>
                <a:ea typeface="Consolas" pitchFamily="34" charset="-122"/>
                <a:cs typeface="Consolas" pitchFamily="34" charset="-120"/>
              </a:rPr>
              <a:t>  CategoryID INT,</a:t>
            </a:r>
            <a:endParaRPr lang="en-US" sz="1100" dirty="0"/>
          </a:p>
          <a:p>
            <a:pPr indent="0" marL="0">
              <a:buNone/>
            </a:pPr>
            <a:r>
              <a:rPr lang="en-US" sz="1100" dirty="0">
                <a:solidFill>
                  <a:srgbClr val="D1FAE5"/>
                </a:solidFill>
                <a:latin typeface="Consolas" pitchFamily="34" charset="0"/>
                <a:ea typeface="Consolas" pitchFamily="34" charset="-122"/>
                <a:cs typeface="Consolas" pitchFamily="34" charset="-120"/>
              </a:rPr>
              <a:t>  Price      DECIMAL(10,2),</a:t>
            </a:r>
            <a:endParaRPr lang="en-US" sz="1100" dirty="0"/>
          </a:p>
          <a:p>
            <a:pPr indent="0" marL="0">
              <a:buNone/>
            </a:pPr>
            <a:r>
              <a:rPr lang="en-US" sz="1100" dirty="0">
                <a:solidFill>
                  <a:srgbClr val="D1FAE5"/>
                </a:solidFill>
                <a:latin typeface="Consolas" pitchFamily="34" charset="0"/>
                <a:ea typeface="Consolas" pitchFamily="34" charset="-122"/>
                <a:cs typeface="Consolas" pitchFamily="34" charset="-120"/>
              </a:rPr>
              <a:t>  FOREIGN KEY (CategoryID)</a:t>
            </a:r>
            <a:endParaRPr lang="en-US" sz="1100" dirty="0"/>
          </a:p>
          <a:p>
            <a:pPr indent="0" marL="0">
              <a:buNone/>
            </a:pPr>
            <a:r>
              <a:rPr lang="en-US" sz="1100" dirty="0">
                <a:solidFill>
                  <a:srgbClr val="D1FAE5"/>
                </a:solidFill>
                <a:latin typeface="Consolas" pitchFamily="34" charset="0"/>
                <a:ea typeface="Consolas" pitchFamily="34" charset="-122"/>
                <a:cs typeface="Consolas" pitchFamily="34" charset="-120"/>
              </a:rPr>
              <a:t>  REFERENCES Categories(CategoryID)</a:t>
            </a:r>
            <a:endParaRPr lang="en-US" sz="1100" dirty="0"/>
          </a:p>
          <a:p>
            <a:pPr indent="0" marL="0">
              <a:buNone/>
            </a:pPr>
            <a:r>
              <a:rPr lang="en-US" sz="1100" dirty="0">
                <a:solidFill>
                  <a:srgbClr val="D1FAE5"/>
                </a:solidFill>
                <a:latin typeface="Consolas" pitchFamily="34" charset="0"/>
                <a:ea typeface="Consolas" pitchFamily="34" charset="-122"/>
                <a:cs typeface="Consolas" pitchFamily="34" charset="-120"/>
              </a:rPr>
              <a:t>);</a:t>
            </a:r>
            <a:endParaRPr lang="en-US" sz="1100" dirty="0"/>
          </a:p>
        </p:txBody>
      </p:sp>
      <p:sp>
        <p:nvSpPr>
          <p:cNvPr id="29" name="Text 23"/>
          <p:cNvSpPr/>
          <p:nvPr/>
        </p:nvSpPr>
        <p:spPr>
          <a:xfrm>
            <a:off x="320040" y="4754880"/>
            <a:ext cx="8503920" cy="320040"/>
          </a:xfrm>
          <a:prstGeom prst="rect">
            <a:avLst/>
          </a:prstGeom>
          <a:noFill/>
          <a:ln/>
        </p:spPr>
        <p:txBody>
          <a:bodyPr wrap="square" rtlCol="0" anchor="ctr"/>
          <a:lstStyle/>
          <a:p>
            <a:pPr indent="0" marL="0">
              <a:buNone/>
            </a:pPr>
            <a:r>
              <a:rPr lang="en-US" sz="1100" i="1" dirty="0">
                <a:solidFill>
                  <a:srgbClr val="4B5563"/>
                </a:solidFill>
                <a:latin typeface="Calibri" pitchFamily="34" charset="0"/>
                <a:ea typeface="Calibri" pitchFamily="34" charset="-122"/>
                <a:cs typeface="Calibri" pitchFamily="34" charset="-120"/>
              </a:rPr>
              <a:t>Built on a relational model to ensure data integrity across the shopping lifecycle.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D4ED8"/>
        </a:solidFill>
      </p:bgPr>
    </p:bg>
    <p:spTree>
      <p:nvGrpSpPr>
        <p:cNvPr id="1" name=""/>
        <p:cNvGrpSpPr/>
        <p:nvPr/>
      </p:nvGrpSpPr>
      <p:grpSpPr>
        <a:xfrm>
          <a:off x="0" y="0"/>
          <a:ext cx="0" cy="0"/>
          <a:chOff x="0" y="0"/>
          <a:chExt cx="0" cy="0"/>
        </a:xfrm>
      </p:grpSpPr>
      <p:sp>
        <p:nvSpPr>
          <p:cNvPr id="2" name="Shape 0"/>
          <p:cNvSpPr/>
          <p:nvPr/>
        </p:nvSpPr>
        <p:spPr>
          <a:xfrm>
            <a:off x="5943600" y="-914400"/>
            <a:ext cx="4572000" cy="4572000"/>
          </a:xfrm>
          <a:prstGeom prst="ellipse">
            <a:avLst/>
          </a:prstGeom>
          <a:solidFill>
            <a:srgbClr val="1E40AF">
              <a:alpha val="50000"/>
            </a:srgbClr>
          </a:solidFill>
          <a:ln w="12700">
            <a:solidFill>
              <a:srgbClr val="1E40AF"/>
            </a:solidFill>
            <a:prstDash val="solid"/>
          </a:ln>
        </p:spPr>
      </p:sp>
      <p:sp>
        <p:nvSpPr>
          <p:cNvPr id="3" name="Shape 1"/>
          <p:cNvSpPr/>
          <p:nvPr/>
        </p:nvSpPr>
        <p:spPr>
          <a:xfrm>
            <a:off x="-1371600" y="2286000"/>
            <a:ext cx="3657600" cy="3657600"/>
          </a:xfrm>
          <a:prstGeom prst="ellipse">
            <a:avLst/>
          </a:prstGeom>
          <a:solidFill>
            <a:srgbClr val="1E40AF">
              <a:alpha val="40000"/>
            </a:srgbClr>
          </a:solidFill>
          <a:ln w="12700">
            <a:solidFill>
              <a:srgbClr val="1E40AF"/>
            </a:solidFill>
            <a:prstDash val="solid"/>
          </a:ln>
        </p:spPr>
      </p:sp>
      <p:pic>
        <p:nvPicPr>
          <p:cNvPr id="4" name="Image 0" descr="preencoded.png">    </p:cNvPr>
          <p:cNvPicPr>
            <a:picLocks noChangeAspect="1"/>
          </p:cNvPicPr>
          <p:nvPr/>
        </p:nvPicPr>
        <p:blipFill>
          <a:blip r:embed="rId1"/>
          <a:stretch>
            <a:fillRect/>
          </a:stretch>
        </p:blipFill>
        <p:spPr>
          <a:xfrm>
            <a:off x="3749040" y="594360"/>
            <a:ext cx="1645920" cy="1645920"/>
          </a:xfrm>
          <a:prstGeom prst="rect">
            <a:avLst/>
          </a:prstGeom>
        </p:spPr>
      </p:pic>
      <p:sp>
        <p:nvSpPr>
          <p:cNvPr id="5" name="Text 2"/>
          <p:cNvSpPr/>
          <p:nvPr/>
        </p:nvSpPr>
        <p:spPr>
          <a:xfrm>
            <a:off x="457200" y="2377440"/>
            <a:ext cx="82296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Security &amp; Access Control</a:t>
            </a:r>
            <a:endParaRPr lang="en-US" sz="3800" dirty="0"/>
          </a:p>
        </p:txBody>
      </p:sp>
      <p:sp>
        <p:nvSpPr>
          <p:cNvPr id="6" name="Text 3"/>
          <p:cNvSpPr/>
          <p:nvPr/>
        </p:nvSpPr>
        <p:spPr>
          <a:xfrm>
            <a:off x="457200" y="3383280"/>
            <a:ext cx="8229600" cy="457200"/>
          </a:xfrm>
          <a:prstGeom prst="rect">
            <a:avLst/>
          </a:prstGeom>
          <a:noFill/>
          <a:ln/>
        </p:spPr>
        <p:txBody>
          <a:bodyPr wrap="square" rtlCol="0" anchor="ctr"/>
          <a:lstStyle/>
          <a:p>
            <a:pPr algn="ctr" indent="0" marL="0">
              <a:buNone/>
            </a:pPr>
            <a:r>
              <a:rPr lang="en-US" sz="1600" dirty="0">
                <a:solidFill>
                  <a:srgbClr val="BFDBFE"/>
                </a:solidFill>
                <a:latin typeface="Calibri" pitchFamily="34" charset="0"/>
                <a:ea typeface="Calibri" pitchFamily="34" charset="-122"/>
                <a:cs typeface="Calibri" pitchFamily="34" charset="-120"/>
              </a:rPr>
              <a:t>Protecting Data Integrity and User Privacy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1B3C"/>
          </a:solidFill>
          <a:ln w="12700">
            <a:solidFill>
              <a:srgbClr val="0F1B3C"/>
            </a:solidFill>
            <a:prstDash val="solid"/>
          </a:ln>
        </p:spPr>
      </p:sp>
      <p:sp>
        <p:nvSpPr>
          <p:cNvPr id="3" name="Text 1"/>
          <p:cNvSpPr/>
          <p:nvPr/>
        </p:nvSpPr>
        <p:spPr>
          <a:xfrm>
            <a:off x="457200" y="0"/>
            <a:ext cx="8229600" cy="9601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Data Confidentiality: SHA-256 Hashing</a:t>
            </a:r>
            <a:endParaRPr lang="en-US" sz="2600" dirty="0"/>
          </a:p>
        </p:txBody>
      </p:sp>
      <p:sp>
        <p:nvSpPr>
          <p:cNvPr id="4" name="Shape 2"/>
          <p:cNvSpPr/>
          <p:nvPr/>
        </p:nvSpPr>
        <p:spPr>
          <a:xfrm>
            <a:off x="320040" y="1143000"/>
            <a:ext cx="3931920" cy="35661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1691640" y="1371600"/>
            <a:ext cx="640080" cy="640080"/>
          </a:xfrm>
          <a:prstGeom prst="rect">
            <a:avLst/>
          </a:prstGeom>
        </p:spPr>
      </p:pic>
      <p:sp>
        <p:nvSpPr>
          <p:cNvPr id="6" name="Text 3"/>
          <p:cNvSpPr/>
          <p:nvPr/>
        </p:nvSpPr>
        <p:spPr>
          <a:xfrm>
            <a:off x="411480" y="2121408"/>
            <a:ext cx="3749040" cy="365760"/>
          </a:xfrm>
          <a:prstGeom prst="rect">
            <a:avLst/>
          </a:prstGeom>
          <a:noFill/>
          <a:ln/>
        </p:spPr>
        <p:txBody>
          <a:bodyPr wrap="square" rtlCol="0" anchor="ctr"/>
          <a:lstStyle/>
          <a:p>
            <a:pPr algn="ctr" indent="0" marL="0">
              <a:buNone/>
            </a:pPr>
            <a:r>
              <a:rPr lang="en-US" sz="1300" b="1" dirty="0">
                <a:solidFill>
                  <a:srgbClr val="2563EB"/>
                </a:solidFill>
                <a:latin typeface="Calibri" pitchFamily="34" charset="0"/>
                <a:ea typeface="Calibri" pitchFamily="34" charset="-122"/>
                <a:cs typeface="Calibri" pitchFamily="34" charset="-120"/>
              </a:rPr>
              <a:t>One-Way Cryptographic Hashing</a:t>
            </a:r>
            <a:endParaRPr lang="en-US" sz="1300" dirty="0"/>
          </a:p>
        </p:txBody>
      </p:sp>
      <p:sp>
        <p:nvSpPr>
          <p:cNvPr id="7" name="Text 4"/>
          <p:cNvSpPr/>
          <p:nvPr/>
        </p:nvSpPr>
        <p:spPr>
          <a:xfrm>
            <a:off x="502920" y="2606040"/>
            <a:ext cx="3611880" cy="1920240"/>
          </a:xfrm>
          <a:prstGeom prst="rect">
            <a:avLst/>
          </a:prstGeom>
          <a:noFill/>
          <a:ln/>
        </p:spPr>
        <p:txBody>
          <a:bodyPr wrap="square" rtlCol="0" anchor="ctr"/>
          <a:lstStyle/>
          <a:p>
            <a:pPr algn="l" indent="0" marL="0">
              <a:buNone/>
            </a:pPr>
            <a:r>
              <a:rPr lang="en-US" sz="1150" dirty="0">
                <a:solidFill>
                  <a:srgbClr val="4B5563"/>
                </a:solidFill>
                <a:latin typeface="Calibri" pitchFamily="34" charset="0"/>
                <a:ea typeface="Calibri" pitchFamily="34" charset="-122"/>
                <a:cs typeface="Calibri" pitchFamily="34" charset="-120"/>
              </a:rPr>
              <a:t>User privacy is a core requirement.</a:t>
            </a:r>
            <a:endParaRPr lang="en-US" sz="1150" dirty="0"/>
          </a:p>
          <a:p>
            <a:pPr algn="l" indent="0" marL="0">
              <a:buNone/>
            </a:pPr>
            <a:r>
              <a:rPr lang="en-US" sz="1150" dirty="0">
                <a:solidFill>
                  <a:srgbClr val="4B5563"/>
                </a:solidFill>
                <a:latin typeface="Calibri" pitchFamily="34" charset="0"/>
                <a:ea typeface="Calibri" pitchFamily="34" charset="-122"/>
                <a:cs typeface="Calibri" pitchFamily="34" charset="-120"/>
              </a:rPr>
              <a:t>All passwords are hashed via SHA-256 before storage.</a:t>
            </a:r>
            <a:endParaRPr lang="en-US" sz="1150" dirty="0"/>
          </a:p>
          <a:p>
            <a:pPr algn="l" indent="0" marL="0">
              <a:buNone/>
            </a:pPr>
            <a:endParaRPr lang="en-US" sz="1150" dirty="0"/>
          </a:p>
          <a:p>
            <a:pPr algn="l" indent="0" marL="0">
              <a:buNone/>
            </a:pPr>
            <a:r>
              <a:rPr lang="en-US" sz="1150" dirty="0">
                <a:solidFill>
                  <a:srgbClr val="4B5563"/>
                </a:solidFill>
                <a:latin typeface="Calibri" pitchFamily="34" charset="0"/>
                <a:ea typeface="Calibri" pitchFamily="34" charset="-122"/>
                <a:cs typeface="Calibri" pitchFamily="34" charset="-120"/>
              </a:rPr>
              <a:t>Instead of storing "sweetlady", the database stores a 64-character hash.</a:t>
            </a:r>
            <a:endParaRPr lang="en-US" sz="1150" dirty="0"/>
          </a:p>
          <a:p>
            <a:pPr algn="l" indent="0" marL="0">
              <a:buNone/>
            </a:pPr>
            <a:endParaRPr lang="en-US" sz="1150" dirty="0"/>
          </a:p>
          <a:p>
            <a:pPr algn="l" indent="0" marL="0">
              <a:buNone/>
            </a:pPr>
            <a:r>
              <a:rPr lang="en-US" sz="1150" dirty="0">
                <a:solidFill>
                  <a:srgbClr val="4B5563"/>
                </a:solidFill>
                <a:latin typeface="Calibri" pitchFamily="34" charset="0"/>
                <a:ea typeface="Calibri" pitchFamily="34" charset="-122"/>
                <a:cs typeface="Calibri" pitchFamily="34" charset="-120"/>
              </a:rPr>
              <a:t>Even if the database is leaked, the original passwords remain unreadable.</a:t>
            </a:r>
            <a:endParaRPr lang="en-US" sz="1150" dirty="0"/>
          </a:p>
        </p:txBody>
      </p:sp>
      <p:sp>
        <p:nvSpPr>
          <p:cNvPr id="8" name="Shape 5"/>
          <p:cNvSpPr/>
          <p:nvPr/>
        </p:nvSpPr>
        <p:spPr>
          <a:xfrm>
            <a:off x="4572000" y="1143000"/>
            <a:ext cx="4206240" cy="3566160"/>
          </a:xfrm>
          <a:prstGeom prst="rect">
            <a:avLst/>
          </a:prstGeom>
          <a:solidFill>
            <a:srgbClr val="111827"/>
          </a:solidFill>
          <a:ln w="12700">
            <a:solidFill>
              <a:srgbClr val="374151"/>
            </a:solidFill>
            <a:prstDash val="solid"/>
          </a:ln>
          <a:effectLst>
            <a:outerShdw sx="100000" sy="100000" kx="0" ky="0" algn="bl" rotWithShape="0" blurRad="127000" dist="38100" dir="8100000">
              <a:srgbClr val="000000">
                <a:alpha val="20000"/>
              </a:srgbClr>
            </a:outerShdw>
          </a:effectLst>
        </p:spPr>
      </p:sp>
      <p:sp>
        <p:nvSpPr>
          <p:cNvPr id="9" name="Shape 6"/>
          <p:cNvSpPr/>
          <p:nvPr/>
        </p:nvSpPr>
        <p:spPr>
          <a:xfrm>
            <a:off x="4754880" y="1298448"/>
            <a:ext cx="146304" cy="146304"/>
          </a:xfrm>
          <a:prstGeom prst="ellipse">
            <a:avLst/>
          </a:prstGeom>
          <a:solidFill>
            <a:srgbClr val="EF4444"/>
          </a:solidFill>
          <a:ln w="12700">
            <a:solidFill>
              <a:srgbClr val="EF4444"/>
            </a:solidFill>
            <a:prstDash val="solid"/>
          </a:ln>
        </p:spPr>
      </p:sp>
      <p:sp>
        <p:nvSpPr>
          <p:cNvPr id="10" name="Shape 7"/>
          <p:cNvSpPr/>
          <p:nvPr/>
        </p:nvSpPr>
        <p:spPr>
          <a:xfrm>
            <a:off x="5010912" y="1298448"/>
            <a:ext cx="146304" cy="146304"/>
          </a:xfrm>
          <a:prstGeom prst="ellipse">
            <a:avLst/>
          </a:prstGeom>
          <a:solidFill>
            <a:srgbClr val="F59E0B"/>
          </a:solidFill>
          <a:ln w="12700">
            <a:solidFill>
              <a:srgbClr val="F59E0B"/>
            </a:solidFill>
            <a:prstDash val="solid"/>
          </a:ln>
        </p:spPr>
      </p:sp>
      <p:sp>
        <p:nvSpPr>
          <p:cNvPr id="11" name="Shape 8"/>
          <p:cNvSpPr/>
          <p:nvPr/>
        </p:nvSpPr>
        <p:spPr>
          <a:xfrm>
            <a:off x="5266944" y="1298448"/>
            <a:ext cx="146304" cy="146304"/>
          </a:xfrm>
          <a:prstGeom prst="ellipse">
            <a:avLst/>
          </a:prstGeom>
          <a:solidFill>
            <a:srgbClr val="10B981"/>
          </a:solidFill>
          <a:ln w="12700">
            <a:solidFill>
              <a:srgbClr val="10B981"/>
            </a:solidFill>
            <a:prstDash val="solid"/>
          </a:ln>
        </p:spPr>
      </p:sp>
      <p:sp>
        <p:nvSpPr>
          <p:cNvPr id="12" name="Text 9"/>
          <p:cNvSpPr/>
          <p:nvPr/>
        </p:nvSpPr>
        <p:spPr>
          <a:xfrm>
            <a:off x="4709160" y="1554480"/>
            <a:ext cx="3931920" cy="274320"/>
          </a:xfrm>
          <a:prstGeom prst="rect">
            <a:avLst/>
          </a:prstGeom>
          <a:noFill/>
          <a:ln/>
        </p:spPr>
        <p:txBody>
          <a:bodyPr wrap="square" rtlCol="0" anchor="ctr"/>
          <a:lstStyle/>
          <a:p>
            <a:pPr indent="0" marL="0">
              <a:buNone/>
            </a:pPr>
            <a:r>
              <a:rPr lang="en-US" sz="1100" dirty="0">
                <a:solidFill>
                  <a:srgbClr val="6B7280"/>
                </a:solidFill>
                <a:latin typeface="Consolas" pitchFamily="34" charset="0"/>
                <a:ea typeface="Consolas" pitchFamily="34" charset="-122"/>
                <a:cs typeface="Consolas" pitchFamily="34" charset="-120"/>
              </a:rPr>
              <a:t>-- Hashing Implementation --</a:t>
            </a:r>
            <a:endParaRPr lang="en-US" sz="1100" dirty="0"/>
          </a:p>
        </p:txBody>
      </p:sp>
      <p:sp>
        <p:nvSpPr>
          <p:cNvPr id="13" name="Text 10"/>
          <p:cNvSpPr/>
          <p:nvPr/>
        </p:nvSpPr>
        <p:spPr>
          <a:xfrm>
            <a:off x="4709160" y="1920240"/>
            <a:ext cx="3931920" cy="1097280"/>
          </a:xfrm>
          <a:prstGeom prst="rect">
            <a:avLst/>
          </a:prstGeom>
          <a:noFill/>
          <a:ln/>
        </p:spPr>
        <p:txBody>
          <a:bodyPr wrap="square" rtlCol="0" anchor="ctr"/>
          <a:lstStyle/>
          <a:p>
            <a:pPr indent="0" marL="0">
              <a:buNone/>
            </a:pPr>
            <a:r>
              <a:rPr lang="en-US" sz="1200" dirty="0">
                <a:solidFill>
                  <a:srgbClr val="60A5FA"/>
                </a:solidFill>
                <a:latin typeface="Consolas" pitchFamily="34" charset="0"/>
                <a:ea typeface="Consolas" pitchFamily="34" charset="-122"/>
                <a:cs typeface="Consolas" pitchFamily="34" charset="-120"/>
              </a:rPr>
              <a:t>UPDATE </a:t>
            </a:r>
            <a:pPr indent="0" marL="0">
              <a:buNone/>
            </a:pPr>
            <a:r>
              <a:rPr lang="en-US" sz="1200" dirty="0">
                <a:solidFill>
                  <a:srgbClr val="E5E7EB"/>
                </a:solidFill>
                <a:latin typeface="Consolas" pitchFamily="34" charset="0"/>
                <a:ea typeface="Consolas" pitchFamily="34" charset="-122"/>
                <a:cs typeface="Consolas" pitchFamily="34" charset="-120"/>
              </a:rPr>
              <a:t>customers
</a:t>
            </a:r>
            <a:pPr indent="0" marL="0">
              <a:buNone/>
            </a:pPr>
            <a:r>
              <a:rPr lang="en-US" sz="1200" dirty="0">
                <a:solidFill>
                  <a:srgbClr val="60A5FA"/>
                </a:solidFill>
                <a:latin typeface="Consolas" pitchFamily="34" charset="0"/>
                <a:ea typeface="Consolas" pitchFamily="34" charset="-122"/>
                <a:cs typeface="Consolas" pitchFamily="34" charset="-120"/>
              </a:rPr>
              <a:t>SET </a:t>
            </a:r>
            <a:pPr indent="0" marL="0">
              <a:buNone/>
            </a:pPr>
            <a:r>
              <a:rPr lang="en-US" sz="1200" dirty="0">
                <a:solidFill>
                  <a:srgbClr val="E5E7EB"/>
                </a:solidFill>
                <a:latin typeface="Consolas" pitchFamily="34" charset="0"/>
                <a:ea typeface="Consolas" pitchFamily="34" charset="-122"/>
                <a:cs typeface="Consolas" pitchFamily="34" charset="-120"/>
              </a:rPr>
              <a:t>Password = </a:t>
            </a:r>
            <a:pPr indent="0" marL="0">
              <a:buNone/>
            </a:pPr>
            <a:r>
              <a:rPr lang="en-US" sz="1200" dirty="0">
                <a:solidFill>
                  <a:srgbClr val="F9A8D4"/>
                </a:solidFill>
                <a:latin typeface="Consolas" pitchFamily="34" charset="0"/>
                <a:ea typeface="Consolas" pitchFamily="34" charset="-122"/>
                <a:cs typeface="Consolas" pitchFamily="34" charset="-120"/>
              </a:rPr>
              <a:t>SHA2</a:t>
            </a:r>
            <a:pPr indent="0" marL="0">
              <a:buNone/>
            </a:pPr>
            <a:r>
              <a:rPr lang="en-US" sz="1200" dirty="0">
                <a:solidFill>
                  <a:srgbClr val="A7F3D0"/>
                </a:solidFill>
                <a:latin typeface="Consolas" pitchFamily="34" charset="0"/>
                <a:ea typeface="Consolas" pitchFamily="34" charset="-122"/>
                <a:cs typeface="Consolas" pitchFamily="34" charset="-120"/>
              </a:rPr>
              <a:t>('mypassword', 256)
</a:t>
            </a:r>
            <a:pPr indent="0" marL="0">
              <a:buNone/>
            </a:pPr>
            <a:r>
              <a:rPr lang="en-US" sz="1200" dirty="0">
                <a:solidFill>
                  <a:srgbClr val="60A5FA"/>
                </a:solidFill>
                <a:latin typeface="Consolas" pitchFamily="34" charset="0"/>
                <a:ea typeface="Consolas" pitchFamily="34" charset="-122"/>
                <a:cs typeface="Consolas" pitchFamily="34" charset="-120"/>
              </a:rPr>
              <a:t>WHERE </a:t>
            </a:r>
            <a:pPr indent="0" marL="0">
              <a:buNone/>
            </a:pPr>
            <a:r>
              <a:rPr lang="en-US" sz="1200" dirty="0">
                <a:solidFill>
                  <a:srgbClr val="E5E7EB"/>
                </a:solidFill>
                <a:latin typeface="Consolas" pitchFamily="34" charset="0"/>
                <a:ea typeface="Consolas" pitchFamily="34" charset="-122"/>
                <a:cs typeface="Consolas" pitchFamily="34" charset="-120"/>
              </a:rPr>
              <a:t>Name = </a:t>
            </a:r>
            <a:pPr indent="0" marL="0">
              <a:buNone/>
            </a:pPr>
            <a:r>
              <a:rPr lang="en-US" sz="1200" dirty="0">
                <a:solidFill>
                  <a:srgbClr val="FDE68A"/>
                </a:solidFill>
                <a:latin typeface="Consolas" pitchFamily="34" charset="0"/>
                <a:ea typeface="Consolas" pitchFamily="34" charset="-122"/>
                <a:cs typeface="Consolas" pitchFamily="34" charset="-120"/>
              </a:rPr>
              <a:t>'Jane Smith';</a:t>
            </a:r>
            <a:endParaRPr lang="en-US" sz="1200" dirty="0"/>
          </a:p>
        </p:txBody>
      </p:sp>
      <p:sp>
        <p:nvSpPr>
          <p:cNvPr id="14" name="Shape 11"/>
          <p:cNvSpPr/>
          <p:nvPr/>
        </p:nvSpPr>
        <p:spPr>
          <a:xfrm>
            <a:off x="4663440" y="3200400"/>
            <a:ext cx="4023360" cy="1280160"/>
          </a:xfrm>
          <a:prstGeom prst="rect">
            <a:avLst/>
          </a:prstGeom>
          <a:solidFill>
            <a:srgbClr val="1F2937"/>
          </a:solidFill>
          <a:ln w="12700">
            <a:solidFill>
              <a:srgbClr val="374151"/>
            </a:solidFill>
            <a:prstDash val="solid"/>
          </a:ln>
        </p:spPr>
      </p:sp>
      <p:sp>
        <p:nvSpPr>
          <p:cNvPr id="15" name="Text 12"/>
          <p:cNvSpPr/>
          <p:nvPr/>
        </p:nvSpPr>
        <p:spPr>
          <a:xfrm>
            <a:off x="4754880" y="3291840"/>
            <a:ext cx="3840480" cy="274320"/>
          </a:xfrm>
          <a:prstGeom prst="rect">
            <a:avLst/>
          </a:prstGeom>
          <a:noFill/>
          <a:ln/>
        </p:spPr>
        <p:txBody>
          <a:bodyPr wrap="square" rtlCol="0" anchor="ctr"/>
          <a:lstStyle/>
          <a:p>
            <a:pPr indent="0" marL="0">
              <a:buNone/>
            </a:pPr>
            <a:r>
              <a:rPr lang="en-US" sz="1100" dirty="0">
                <a:solidFill>
                  <a:srgbClr val="9CA3AF"/>
                </a:solidFill>
                <a:latin typeface="Consolas" pitchFamily="34" charset="0"/>
                <a:ea typeface="Consolas" pitchFamily="34" charset="-122"/>
                <a:cs typeface="Consolas" pitchFamily="34" charset="-120"/>
              </a:rPr>
              <a:t>Input:  "mypassword"</a:t>
            </a:r>
            <a:endParaRPr lang="en-US" sz="1100" dirty="0"/>
          </a:p>
        </p:txBody>
      </p:sp>
      <p:sp>
        <p:nvSpPr>
          <p:cNvPr id="16" name="Text 13"/>
          <p:cNvSpPr/>
          <p:nvPr/>
        </p:nvSpPr>
        <p:spPr>
          <a:xfrm>
            <a:off x="4754880" y="3566160"/>
            <a:ext cx="3840480" cy="256032"/>
          </a:xfrm>
          <a:prstGeom prst="rect">
            <a:avLst/>
          </a:prstGeom>
          <a:noFill/>
          <a:ln/>
        </p:spPr>
        <p:txBody>
          <a:bodyPr wrap="square" rtlCol="0" anchor="ctr"/>
          <a:lstStyle/>
          <a:p>
            <a:pPr indent="0" marL="0">
              <a:buNone/>
            </a:pPr>
            <a:r>
              <a:rPr lang="en-US" sz="1050" dirty="0">
                <a:solidFill>
                  <a:srgbClr val="60A5FA"/>
                </a:solidFill>
                <a:latin typeface="Consolas" pitchFamily="34" charset="0"/>
                <a:ea typeface="Consolas" pitchFamily="34" charset="-122"/>
                <a:cs typeface="Consolas" pitchFamily="34" charset="-120"/>
              </a:rPr>
              <a:t>       ↓  SHA2( ... , 256 )</a:t>
            </a:r>
            <a:endParaRPr lang="en-US" sz="1050" dirty="0"/>
          </a:p>
        </p:txBody>
      </p:sp>
      <p:sp>
        <p:nvSpPr>
          <p:cNvPr id="17" name="Text 14"/>
          <p:cNvSpPr/>
          <p:nvPr/>
        </p:nvSpPr>
        <p:spPr>
          <a:xfrm>
            <a:off x="4754880" y="3840480"/>
            <a:ext cx="3840480" cy="457200"/>
          </a:xfrm>
          <a:prstGeom prst="rect">
            <a:avLst/>
          </a:prstGeom>
          <a:noFill/>
          <a:ln/>
        </p:spPr>
        <p:txBody>
          <a:bodyPr wrap="square" rtlCol="0" anchor="ctr"/>
          <a:lstStyle/>
          <a:p>
            <a:pPr indent="0" marL="0">
              <a:buNone/>
            </a:pPr>
            <a:r>
              <a:rPr lang="en-US" sz="1000" dirty="0">
                <a:solidFill>
                  <a:srgbClr val="10B981"/>
                </a:solidFill>
                <a:latin typeface="Consolas" pitchFamily="34" charset="0"/>
                <a:ea typeface="Consolas" pitchFamily="34" charset="-122"/>
                <a:cs typeface="Consolas" pitchFamily="34" charset="-120"/>
              </a:rPr>
              <a:t>89e01536ac207279409d4de1e5...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1B3C"/>
          </a:solidFill>
          <a:ln w="12700">
            <a:solidFill>
              <a:srgbClr val="0F1B3C"/>
            </a:solidFill>
            <a:prstDash val="solid"/>
          </a:ln>
        </p:spPr>
      </p:sp>
      <p:sp>
        <p:nvSpPr>
          <p:cNvPr id="3" name="Text 1"/>
          <p:cNvSpPr/>
          <p:nvPr/>
        </p:nvSpPr>
        <p:spPr>
          <a:xfrm>
            <a:off x="457200" y="0"/>
            <a:ext cx="8229600" cy="9601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Authorization: User Roles (RBAC)</a:t>
            </a:r>
            <a:endParaRPr lang="en-US" sz="3000" dirty="0"/>
          </a:p>
        </p:txBody>
      </p:sp>
      <p:sp>
        <p:nvSpPr>
          <p:cNvPr id="4" name="Text 2"/>
          <p:cNvSpPr/>
          <p:nvPr/>
        </p:nvSpPr>
        <p:spPr>
          <a:xfrm>
            <a:off x="457200" y="1005840"/>
            <a:ext cx="8229600" cy="411480"/>
          </a:xfrm>
          <a:prstGeom prst="rect">
            <a:avLst/>
          </a:prstGeom>
          <a:noFill/>
          <a:ln/>
        </p:spPr>
        <p:txBody>
          <a:bodyPr wrap="square" rtlCol="0" anchor="ctr"/>
          <a:lstStyle/>
          <a:p>
            <a:pPr indent="0" marL="0">
              <a:buNone/>
            </a:pPr>
            <a:r>
              <a:rPr lang="en-US" sz="1250" dirty="0">
                <a:solidFill>
                  <a:srgbClr val="4B5563"/>
                </a:solidFill>
                <a:latin typeface="Calibri" pitchFamily="34" charset="0"/>
                <a:ea typeface="Calibri" pitchFamily="34" charset="-122"/>
                <a:cs typeface="Calibri" pitchFamily="34" charset="-120"/>
              </a:rPr>
              <a:t>To prevent unauthorized data destruction, the system implements strict Role-Based Access Control (RBAC).</a:t>
            </a:r>
            <a:endParaRPr lang="en-US" sz="1250" dirty="0"/>
          </a:p>
        </p:txBody>
      </p:sp>
      <p:sp>
        <p:nvSpPr>
          <p:cNvPr id="5" name="Shape 3"/>
          <p:cNvSpPr/>
          <p:nvPr/>
        </p:nvSpPr>
        <p:spPr>
          <a:xfrm>
            <a:off x="320040" y="1508760"/>
            <a:ext cx="3931920" cy="3200400"/>
          </a:xfrm>
          <a:prstGeom prst="rect">
            <a:avLst/>
          </a:prstGeom>
          <a:solidFill>
            <a:srgbClr val="FFFFFF"/>
          </a:solidFill>
          <a:ln w="25400">
            <a:solidFill>
              <a:srgbClr val="D1FAE5"/>
            </a:solidFill>
            <a:prstDash val="solid"/>
          </a:ln>
          <a:effectLst>
            <a:outerShdw sx="100000" sy="100000" kx="0" ky="0" algn="bl" rotWithShape="0" blurRad="101600" dist="25400" dir="8100000">
              <a:srgbClr val="000000">
                <a:alpha val="10000"/>
              </a:srgbClr>
            </a:outerShdw>
          </a:effectLst>
        </p:spPr>
      </p:sp>
      <p:sp>
        <p:nvSpPr>
          <p:cNvPr id="6" name="Shape 4"/>
          <p:cNvSpPr/>
          <p:nvPr/>
        </p:nvSpPr>
        <p:spPr>
          <a:xfrm>
            <a:off x="320040" y="1508760"/>
            <a:ext cx="3931920" cy="64008"/>
          </a:xfrm>
          <a:prstGeom prst="rect">
            <a:avLst/>
          </a:prstGeom>
          <a:solidFill>
            <a:srgbClr val="10B981"/>
          </a:solidFill>
          <a:ln w="12700">
            <a:solidFill>
              <a:srgbClr val="10B981"/>
            </a:solidFill>
            <a:prstDash val="solid"/>
          </a:ln>
        </p:spPr>
      </p:sp>
      <p:pic>
        <p:nvPicPr>
          <p:cNvPr id="7" name="Image 0" descr="preencoded.png">    </p:cNvPr>
          <p:cNvPicPr>
            <a:picLocks noChangeAspect="1"/>
          </p:cNvPicPr>
          <p:nvPr/>
        </p:nvPicPr>
        <p:blipFill>
          <a:blip r:embed="rId1"/>
          <a:stretch>
            <a:fillRect/>
          </a:stretch>
        </p:blipFill>
        <p:spPr>
          <a:xfrm>
            <a:off x="1600200" y="1691640"/>
            <a:ext cx="594360" cy="594360"/>
          </a:xfrm>
          <a:prstGeom prst="rect">
            <a:avLst/>
          </a:prstGeom>
        </p:spPr>
      </p:pic>
      <p:sp>
        <p:nvSpPr>
          <p:cNvPr id="8" name="Text 5"/>
          <p:cNvSpPr/>
          <p:nvPr/>
        </p:nvSpPr>
        <p:spPr>
          <a:xfrm>
            <a:off x="411480" y="2377440"/>
            <a:ext cx="3749040" cy="365760"/>
          </a:xfrm>
          <a:prstGeom prst="rect">
            <a:avLst/>
          </a:prstGeom>
          <a:noFill/>
          <a:ln/>
        </p:spPr>
        <p:txBody>
          <a:bodyPr wrap="square" rtlCol="0" anchor="ctr"/>
          <a:lstStyle/>
          <a:p>
            <a:pPr algn="ctr" indent="0" marL="0">
              <a:buNone/>
            </a:pPr>
            <a:r>
              <a:rPr lang="en-US" sz="1700" b="1" dirty="0">
                <a:solidFill>
                  <a:srgbClr val="0F1B3C"/>
                </a:solidFill>
                <a:latin typeface="Calibri" pitchFamily="34" charset="0"/>
                <a:ea typeface="Calibri" pitchFamily="34" charset="-122"/>
                <a:cs typeface="Calibri" pitchFamily="34" charset="-120"/>
              </a:rPr>
              <a:t>Admin Role</a:t>
            </a:r>
            <a:endParaRPr lang="en-US" sz="1700" dirty="0"/>
          </a:p>
        </p:txBody>
      </p:sp>
      <p:sp>
        <p:nvSpPr>
          <p:cNvPr id="9" name="Shape 6"/>
          <p:cNvSpPr/>
          <p:nvPr/>
        </p:nvSpPr>
        <p:spPr>
          <a:xfrm>
            <a:off x="914400" y="2834640"/>
            <a:ext cx="2743200" cy="347472"/>
          </a:xfrm>
          <a:prstGeom prst="roundRect">
            <a:avLst>
              <a:gd name="adj" fmla="val 21053"/>
            </a:avLst>
          </a:prstGeom>
          <a:solidFill>
            <a:srgbClr val="ECFDF5"/>
          </a:solidFill>
          <a:ln w="12700">
            <a:solidFill>
              <a:srgbClr val="6EE7B7"/>
            </a:solidFill>
            <a:prstDash val="solid"/>
          </a:ln>
        </p:spPr>
      </p:sp>
      <p:sp>
        <p:nvSpPr>
          <p:cNvPr id="10" name="Text 7"/>
          <p:cNvSpPr/>
          <p:nvPr/>
        </p:nvSpPr>
        <p:spPr>
          <a:xfrm>
            <a:off x="914400" y="2834640"/>
            <a:ext cx="2743200" cy="347472"/>
          </a:xfrm>
          <a:prstGeom prst="rect">
            <a:avLst/>
          </a:prstGeom>
          <a:noFill/>
          <a:ln/>
        </p:spPr>
        <p:txBody>
          <a:bodyPr wrap="square" lIns="0" tIns="0" rIns="0" bIns="0"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ALL PRIVILEGES</a:t>
            </a:r>
            <a:endParaRPr lang="en-US" sz="1200" dirty="0"/>
          </a:p>
        </p:txBody>
      </p:sp>
      <p:sp>
        <p:nvSpPr>
          <p:cNvPr id="11" name="Text 8"/>
          <p:cNvSpPr/>
          <p:nvPr/>
        </p:nvSpPr>
        <p:spPr>
          <a:xfrm>
            <a:off x="502920" y="3291840"/>
            <a:ext cx="3611880" cy="1234440"/>
          </a:xfrm>
          <a:prstGeom prst="rect">
            <a:avLst/>
          </a:prstGeom>
          <a:noFill/>
          <a:ln/>
        </p:spPr>
        <p:txBody>
          <a:bodyPr wrap="square" rtlCol="0" anchor="ctr"/>
          <a:lstStyle/>
          <a:p>
            <a:pPr algn="ctr" indent="0" marL="0">
              <a:buNone/>
            </a:pPr>
            <a:r>
              <a:rPr lang="en-US" sz="1250" dirty="0">
                <a:solidFill>
                  <a:srgbClr val="4B5563"/>
                </a:solidFill>
                <a:latin typeface="Calibri" pitchFamily="34" charset="0"/>
                <a:ea typeface="Calibri" pitchFamily="34" charset="-122"/>
                <a:cs typeface="Calibri" pitchFamily="34" charset="-120"/>
              </a:rPr>
              <a:t>Allows for inventory management,</a:t>
            </a:r>
            <a:endParaRPr lang="en-US" sz="1250" dirty="0"/>
          </a:p>
          <a:p>
            <a:pPr algn="ctr" indent="0" marL="0">
              <a:buNone/>
            </a:pPr>
            <a:r>
              <a:rPr lang="en-US" sz="1250" dirty="0">
                <a:solidFill>
                  <a:srgbClr val="4B5563"/>
                </a:solidFill>
                <a:latin typeface="Calibri" pitchFamily="34" charset="0"/>
                <a:ea typeface="Calibri" pitchFamily="34" charset="-122"/>
                <a:cs typeface="Calibri" pitchFamily="34" charset="-120"/>
              </a:rPr>
              <a:t>user auditing, and total</a:t>
            </a:r>
            <a:endParaRPr lang="en-US" sz="1250" dirty="0"/>
          </a:p>
          <a:p>
            <a:pPr algn="ctr" indent="0" marL="0">
              <a:buNone/>
            </a:pPr>
            <a:r>
              <a:rPr lang="en-US" sz="1250" dirty="0">
                <a:solidFill>
                  <a:srgbClr val="4B5563"/>
                </a:solidFill>
                <a:latin typeface="Calibri" pitchFamily="34" charset="0"/>
                <a:ea typeface="Calibri" pitchFamily="34" charset="-122"/>
                <a:cs typeface="Calibri" pitchFamily="34" charset="-120"/>
              </a:rPr>
              <a:t>system control.</a:t>
            </a:r>
            <a:endParaRPr lang="en-US" sz="1250" dirty="0"/>
          </a:p>
        </p:txBody>
      </p:sp>
      <p:sp>
        <p:nvSpPr>
          <p:cNvPr id="12" name="Shape 9"/>
          <p:cNvSpPr/>
          <p:nvPr/>
        </p:nvSpPr>
        <p:spPr>
          <a:xfrm>
            <a:off x="4892040" y="1508760"/>
            <a:ext cx="3931920" cy="3200400"/>
          </a:xfrm>
          <a:prstGeom prst="rect">
            <a:avLst/>
          </a:prstGeom>
          <a:solidFill>
            <a:srgbClr val="FFFFFF"/>
          </a:solidFill>
          <a:ln w="25400">
            <a:solidFill>
              <a:srgbClr val="FEE2E2"/>
            </a:solidFill>
            <a:prstDash val="solid"/>
          </a:ln>
          <a:effectLst>
            <a:outerShdw sx="100000" sy="100000" kx="0" ky="0" algn="bl" rotWithShape="0" blurRad="101600" dist="25400" dir="8100000">
              <a:srgbClr val="000000">
                <a:alpha val="10000"/>
              </a:srgbClr>
            </a:outerShdw>
          </a:effectLst>
        </p:spPr>
      </p:sp>
      <p:sp>
        <p:nvSpPr>
          <p:cNvPr id="13" name="Shape 10"/>
          <p:cNvSpPr/>
          <p:nvPr/>
        </p:nvSpPr>
        <p:spPr>
          <a:xfrm>
            <a:off x="4892040" y="1508760"/>
            <a:ext cx="3931920" cy="64008"/>
          </a:xfrm>
          <a:prstGeom prst="rect">
            <a:avLst/>
          </a:prstGeom>
          <a:solidFill>
            <a:srgbClr val="EF4444"/>
          </a:solidFill>
          <a:ln w="12700">
            <a:solidFill>
              <a:srgbClr val="EF4444"/>
            </a:solidFill>
            <a:prstDash val="solid"/>
          </a:ln>
        </p:spPr>
      </p:sp>
      <p:pic>
        <p:nvPicPr>
          <p:cNvPr id="14" name="Image 1" descr="preencoded.png">    </p:cNvPr>
          <p:cNvPicPr>
            <a:picLocks noChangeAspect="1"/>
          </p:cNvPicPr>
          <p:nvPr/>
        </p:nvPicPr>
        <p:blipFill>
          <a:blip r:embed="rId2"/>
          <a:stretch>
            <a:fillRect/>
          </a:stretch>
        </p:blipFill>
        <p:spPr>
          <a:xfrm>
            <a:off x="6172200" y="1691640"/>
            <a:ext cx="594360" cy="594360"/>
          </a:xfrm>
          <a:prstGeom prst="rect">
            <a:avLst/>
          </a:prstGeom>
        </p:spPr>
      </p:pic>
      <p:sp>
        <p:nvSpPr>
          <p:cNvPr id="15" name="Text 11"/>
          <p:cNvSpPr/>
          <p:nvPr/>
        </p:nvSpPr>
        <p:spPr>
          <a:xfrm>
            <a:off x="4983480" y="2377440"/>
            <a:ext cx="3749040" cy="365760"/>
          </a:xfrm>
          <a:prstGeom prst="rect">
            <a:avLst/>
          </a:prstGeom>
          <a:noFill/>
          <a:ln/>
        </p:spPr>
        <p:txBody>
          <a:bodyPr wrap="square" rtlCol="0" anchor="ctr"/>
          <a:lstStyle/>
          <a:p>
            <a:pPr algn="ctr" indent="0" marL="0">
              <a:buNone/>
            </a:pPr>
            <a:r>
              <a:rPr lang="en-US" sz="1700" b="1" dirty="0">
                <a:solidFill>
                  <a:srgbClr val="0F1B3C"/>
                </a:solidFill>
                <a:latin typeface="Calibri" pitchFamily="34" charset="0"/>
                <a:ea typeface="Calibri" pitchFamily="34" charset="-122"/>
                <a:cs typeface="Calibri" pitchFamily="34" charset="-120"/>
              </a:rPr>
              <a:t>Customer Role</a:t>
            </a:r>
            <a:endParaRPr lang="en-US" sz="1700" dirty="0"/>
          </a:p>
        </p:txBody>
      </p:sp>
      <p:sp>
        <p:nvSpPr>
          <p:cNvPr id="16" name="Shape 12"/>
          <p:cNvSpPr/>
          <p:nvPr/>
        </p:nvSpPr>
        <p:spPr>
          <a:xfrm>
            <a:off x="5486400" y="2834640"/>
            <a:ext cx="2743200" cy="347472"/>
          </a:xfrm>
          <a:prstGeom prst="roundRect">
            <a:avLst>
              <a:gd name="adj" fmla="val 21053"/>
            </a:avLst>
          </a:prstGeom>
          <a:solidFill>
            <a:srgbClr val="FEF2F2"/>
          </a:solidFill>
          <a:ln w="12700">
            <a:solidFill>
              <a:srgbClr val="FCA5A5"/>
            </a:solidFill>
            <a:prstDash val="solid"/>
          </a:ln>
        </p:spPr>
      </p:sp>
      <p:sp>
        <p:nvSpPr>
          <p:cNvPr id="17" name="Text 13"/>
          <p:cNvSpPr/>
          <p:nvPr/>
        </p:nvSpPr>
        <p:spPr>
          <a:xfrm>
            <a:off x="5486400" y="2834640"/>
            <a:ext cx="2743200" cy="347472"/>
          </a:xfrm>
          <a:prstGeom prst="rect">
            <a:avLst/>
          </a:prstGeom>
          <a:noFill/>
          <a:ln/>
        </p:spPr>
        <p:txBody>
          <a:bodyPr wrap="square" lIns="0" tIns="0" rIns="0" bIns="0" rtlCol="0" anchor="ctr"/>
          <a:lstStyle/>
          <a:p>
            <a:pPr algn="ctr" indent="0" marL="0">
              <a:buNone/>
            </a:pPr>
            <a:r>
              <a:rPr lang="en-US" sz="1200" b="1" dirty="0">
                <a:solidFill>
                  <a:srgbClr val="EF4444"/>
                </a:solidFill>
                <a:latin typeface="Calibri" pitchFamily="34" charset="0"/>
                <a:ea typeface="Calibri" pitchFamily="34" charset="-122"/>
                <a:cs typeface="Calibri" pitchFamily="34" charset="-120"/>
              </a:rPr>
              <a:t>SELECT, INSERT only</a:t>
            </a:r>
            <a:endParaRPr lang="en-US" sz="1200" dirty="0"/>
          </a:p>
        </p:txBody>
      </p:sp>
      <p:pic>
        <p:nvPicPr>
          <p:cNvPr id="18" name="Image 2" descr="preencoded.png">    </p:cNvPr>
          <p:cNvPicPr>
            <a:picLocks noChangeAspect="1"/>
          </p:cNvPicPr>
          <p:nvPr/>
        </p:nvPicPr>
        <p:blipFill>
          <a:blip r:embed="rId3"/>
          <a:stretch>
            <a:fillRect/>
          </a:stretch>
        </p:blipFill>
        <p:spPr>
          <a:xfrm>
            <a:off x="5943600" y="3364992"/>
            <a:ext cx="320040" cy="320040"/>
          </a:xfrm>
          <a:prstGeom prst="rect">
            <a:avLst/>
          </a:prstGeom>
        </p:spPr>
      </p:pic>
      <p:sp>
        <p:nvSpPr>
          <p:cNvPr id="19" name="Text 14"/>
          <p:cNvSpPr/>
          <p:nvPr/>
        </p:nvSpPr>
        <p:spPr>
          <a:xfrm>
            <a:off x="6309360" y="3364992"/>
            <a:ext cx="2331720" cy="320040"/>
          </a:xfrm>
          <a:prstGeom prst="rect">
            <a:avLst/>
          </a:prstGeom>
          <a:noFill/>
          <a:ln/>
        </p:spPr>
        <p:txBody>
          <a:bodyPr wrap="square"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FORBIDDEN from deleting records</a:t>
            </a:r>
            <a:endParaRPr lang="en-US" sz="1200" dirty="0"/>
          </a:p>
        </p:txBody>
      </p:sp>
      <p:sp>
        <p:nvSpPr>
          <p:cNvPr id="20" name="Text 15"/>
          <p:cNvSpPr/>
          <p:nvPr/>
        </p:nvSpPr>
        <p:spPr>
          <a:xfrm>
            <a:off x="5074920" y="3794760"/>
            <a:ext cx="3611880" cy="731520"/>
          </a:xfrm>
          <a:prstGeom prst="rect">
            <a:avLst/>
          </a:prstGeom>
          <a:noFill/>
          <a:ln/>
        </p:spPr>
        <p:txBody>
          <a:bodyPr wrap="square" rtlCol="0" anchor="ctr"/>
          <a:lstStyle/>
          <a:p>
            <a:pPr algn="ctr" indent="0" marL="0">
              <a:buNone/>
            </a:pPr>
            <a:r>
              <a:rPr lang="en-US" sz="1250" dirty="0">
                <a:solidFill>
                  <a:srgbClr val="4B5563"/>
                </a:solidFill>
                <a:latin typeface="Calibri" pitchFamily="34" charset="0"/>
                <a:ea typeface="Calibri" pitchFamily="34" charset="-122"/>
                <a:cs typeface="Calibri" pitchFamily="34" charset="-120"/>
              </a:rPr>
              <a:t>Users can browse products</a:t>
            </a:r>
            <a:endParaRPr lang="en-US" sz="1250" dirty="0"/>
          </a:p>
          <a:p>
            <a:pPr algn="ctr" indent="0" marL="0">
              <a:buNone/>
            </a:pPr>
            <a:r>
              <a:rPr lang="en-US" sz="1250" dirty="0">
                <a:solidFill>
                  <a:srgbClr val="4B5563"/>
                </a:solidFill>
                <a:latin typeface="Calibri" pitchFamily="34" charset="0"/>
                <a:ea typeface="Calibri" pitchFamily="34" charset="-122"/>
                <a:cs typeface="Calibri" pitchFamily="34" charset="-120"/>
              </a:rPr>
              <a:t>and place orders safely.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1B3C"/>
          </a:solidFill>
          <a:ln w="12700">
            <a:solidFill>
              <a:srgbClr val="0F1B3C"/>
            </a:solidFill>
            <a:prstDash val="solid"/>
          </a:ln>
        </p:spPr>
      </p:sp>
      <p:sp>
        <p:nvSpPr>
          <p:cNvPr id="3" name="Text 1"/>
          <p:cNvSpPr/>
          <p:nvPr/>
        </p:nvSpPr>
        <p:spPr>
          <a:xfrm>
            <a:off x="457200" y="0"/>
            <a:ext cx="8229600" cy="9601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Access Control Enforcement</a:t>
            </a:r>
            <a:endParaRPr lang="en-US" sz="3000" dirty="0"/>
          </a:p>
        </p:txBody>
      </p:sp>
      <p:pic>
        <p:nvPicPr>
          <p:cNvPr id="4" name="Image 0" descr="preencoded.png">    </p:cNvPr>
          <p:cNvPicPr>
            <a:picLocks noChangeAspect="1"/>
          </p:cNvPicPr>
          <p:nvPr/>
        </p:nvPicPr>
        <p:blipFill>
          <a:blip r:embed="rId1"/>
          <a:stretch>
            <a:fillRect/>
          </a:stretch>
        </p:blipFill>
        <p:spPr>
          <a:xfrm>
            <a:off x="365760" y="1078992"/>
            <a:ext cx="502920" cy="502920"/>
          </a:xfrm>
          <a:prstGeom prst="rect">
            <a:avLst/>
          </a:prstGeom>
        </p:spPr>
      </p:pic>
      <p:sp>
        <p:nvSpPr>
          <p:cNvPr id="5" name="Text 2"/>
          <p:cNvSpPr/>
          <p:nvPr/>
        </p:nvSpPr>
        <p:spPr>
          <a:xfrm>
            <a:off x="960120" y="1078992"/>
            <a:ext cx="3474720" cy="502920"/>
          </a:xfrm>
          <a:prstGeom prst="rect">
            <a:avLst/>
          </a:prstGeom>
          <a:noFill/>
          <a:ln/>
        </p:spPr>
        <p:txBody>
          <a:bodyPr wrap="square" rtlCol="0" anchor="ctr"/>
          <a:lstStyle/>
          <a:p>
            <a:pPr indent="0" marL="0">
              <a:buNone/>
            </a:pPr>
            <a:r>
              <a:rPr lang="en-US" sz="1600" b="1" dirty="0">
                <a:solidFill>
                  <a:srgbClr val="0F1B3C"/>
                </a:solidFill>
                <a:latin typeface="Calibri" pitchFamily="34" charset="0"/>
                <a:ea typeface="Calibri" pitchFamily="34" charset="-122"/>
                <a:cs typeface="Calibri" pitchFamily="34" charset="-120"/>
              </a:rPr>
              <a:t>Why We Use REVOKE</a:t>
            </a:r>
            <a:endParaRPr lang="en-US" sz="1600" dirty="0"/>
          </a:p>
        </p:txBody>
      </p:sp>
      <p:pic>
        <p:nvPicPr>
          <p:cNvPr id="6" name="Image 1" descr="preencoded.png">    </p:cNvPr>
          <p:cNvPicPr>
            <a:picLocks noChangeAspect="1"/>
          </p:cNvPicPr>
          <p:nvPr/>
        </p:nvPicPr>
        <p:blipFill>
          <a:blip r:embed="rId2"/>
          <a:stretch>
            <a:fillRect/>
          </a:stretch>
        </p:blipFill>
        <p:spPr>
          <a:xfrm>
            <a:off x="365760" y="1920240"/>
            <a:ext cx="347472" cy="347472"/>
          </a:xfrm>
          <a:prstGeom prst="rect">
            <a:avLst/>
          </a:prstGeom>
        </p:spPr>
      </p:pic>
      <p:sp>
        <p:nvSpPr>
          <p:cNvPr id="7" name="Text 3"/>
          <p:cNvSpPr/>
          <p:nvPr/>
        </p:nvSpPr>
        <p:spPr>
          <a:xfrm>
            <a:off x="822960" y="1920240"/>
            <a:ext cx="3657600" cy="347472"/>
          </a:xfrm>
          <a:prstGeom prst="rect">
            <a:avLst/>
          </a:prstGeom>
          <a:noFill/>
          <a:ln/>
        </p:spPr>
        <p:txBody>
          <a:bodyPr wrap="square" rtlCol="0" anchor="ctr"/>
          <a:lstStyle/>
          <a:p>
            <a:pPr indent="0" marL="0">
              <a:buNone/>
            </a:pPr>
            <a:r>
              <a:rPr lang="en-US" sz="1300" dirty="0">
                <a:solidFill>
                  <a:srgbClr val="0F1B3C"/>
                </a:solidFill>
                <a:latin typeface="Calibri" pitchFamily="34" charset="0"/>
                <a:ea typeface="Calibri" pitchFamily="34" charset="-122"/>
                <a:cs typeface="Calibri" pitchFamily="34" charset="-120"/>
              </a:rPr>
              <a:t>Prevents accidental data loss</a:t>
            </a:r>
            <a:endParaRPr lang="en-US" sz="1300" dirty="0"/>
          </a:p>
        </p:txBody>
      </p:sp>
      <p:pic>
        <p:nvPicPr>
          <p:cNvPr id="8" name="Image 2" descr="preencoded.png">    </p:cNvPr>
          <p:cNvPicPr>
            <a:picLocks noChangeAspect="1"/>
          </p:cNvPicPr>
          <p:nvPr/>
        </p:nvPicPr>
        <p:blipFill>
          <a:blip r:embed="rId3"/>
          <a:stretch>
            <a:fillRect/>
          </a:stretch>
        </p:blipFill>
        <p:spPr>
          <a:xfrm>
            <a:off x="365760" y="2724912"/>
            <a:ext cx="347472" cy="347472"/>
          </a:xfrm>
          <a:prstGeom prst="rect">
            <a:avLst/>
          </a:prstGeom>
        </p:spPr>
      </p:pic>
      <p:sp>
        <p:nvSpPr>
          <p:cNvPr id="9" name="Text 4"/>
          <p:cNvSpPr/>
          <p:nvPr/>
        </p:nvSpPr>
        <p:spPr>
          <a:xfrm>
            <a:off x="822960" y="2724912"/>
            <a:ext cx="3657600" cy="347472"/>
          </a:xfrm>
          <a:prstGeom prst="rect">
            <a:avLst/>
          </a:prstGeom>
          <a:noFill/>
          <a:ln/>
        </p:spPr>
        <p:txBody>
          <a:bodyPr wrap="square" rtlCol="0" anchor="ctr"/>
          <a:lstStyle/>
          <a:p>
            <a:pPr indent="0" marL="0">
              <a:buNone/>
            </a:pPr>
            <a:r>
              <a:rPr lang="en-US" sz="1300" dirty="0">
                <a:solidFill>
                  <a:srgbClr val="0F1B3C"/>
                </a:solidFill>
                <a:latin typeface="Calibri" pitchFamily="34" charset="0"/>
                <a:ea typeface="Calibri" pitchFamily="34" charset="-122"/>
                <a:cs typeface="Calibri" pitchFamily="34" charset="-120"/>
              </a:rPr>
              <a:t>Stops malicious users from deleting order history</a:t>
            </a:r>
            <a:endParaRPr lang="en-US" sz="1300" dirty="0"/>
          </a:p>
        </p:txBody>
      </p:sp>
      <p:pic>
        <p:nvPicPr>
          <p:cNvPr id="10" name="Image 3" descr="preencoded.png">    </p:cNvPr>
          <p:cNvPicPr>
            <a:picLocks noChangeAspect="1"/>
          </p:cNvPicPr>
          <p:nvPr/>
        </p:nvPicPr>
        <p:blipFill>
          <a:blip r:embed="rId4"/>
          <a:stretch>
            <a:fillRect/>
          </a:stretch>
        </p:blipFill>
        <p:spPr>
          <a:xfrm>
            <a:off x="365760" y="3529584"/>
            <a:ext cx="347472" cy="347472"/>
          </a:xfrm>
          <a:prstGeom prst="rect">
            <a:avLst/>
          </a:prstGeom>
        </p:spPr>
      </p:pic>
      <p:sp>
        <p:nvSpPr>
          <p:cNvPr id="11" name="Text 5"/>
          <p:cNvSpPr/>
          <p:nvPr/>
        </p:nvSpPr>
        <p:spPr>
          <a:xfrm>
            <a:off x="822960" y="3529584"/>
            <a:ext cx="3657600" cy="347472"/>
          </a:xfrm>
          <a:prstGeom prst="rect">
            <a:avLst/>
          </a:prstGeom>
          <a:noFill/>
          <a:ln/>
        </p:spPr>
        <p:txBody>
          <a:bodyPr wrap="square" rtlCol="0" anchor="ctr"/>
          <a:lstStyle/>
          <a:p>
            <a:pPr indent="0" marL="0">
              <a:buNone/>
            </a:pPr>
            <a:r>
              <a:rPr lang="en-US" sz="1300" dirty="0">
                <a:solidFill>
                  <a:srgbClr val="0F1B3C"/>
                </a:solidFill>
                <a:latin typeface="Calibri" pitchFamily="34" charset="0"/>
                <a:ea typeface="Calibri" pitchFamily="34" charset="-122"/>
                <a:cs typeface="Calibri" pitchFamily="34" charset="-120"/>
              </a:rPr>
              <a:t>Ensures database audit trails remain intact</a:t>
            </a:r>
            <a:endParaRPr lang="en-US" sz="1300" dirty="0"/>
          </a:p>
        </p:txBody>
      </p:sp>
      <p:sp>
        <p:nvSpPr>
          <p:cNvPr id="12" name="Text 6"/>
          <p:cNvSpPr/>
          <p:nvPr/>
        </p:nvSpPr>
        <p:spPr>
          <a:xfrm>
            <a:off x="365760" y="4343400"/>
            <a:ext cx="4114800" cy="502920"/>
          </a:xfrm>
          <a:prstGeom prst="rect">
            <a:avLst/>
          </a:prstGeom>
          <a:noFill/>
          <a:ln/>
        </p:spPr>
        <p:txBody>
          <a:bodyPr wrap="square" rtlCol="0" anchor="ctr"/>
          <a:lstStyle/>
          <a:p>
            <a:pPr indent="0" marL="0">
              <a:buNone/>
            </a:pPr>
            <a:r>
              <a:rPr lang="en-US" sz="1150" i="1" dirty="0">
                <a:solidFill>
                  <a:srgbClr val="4B5563"/>
                </a:solidFill>
                <a:latin typeface="Calibri" pitchFamily="34" charset="0"/>
                <a:ea typeface="Calibri" pitchFamily="34" charset="-122"/>
                <a:cs typeface="Calibri" pitchFamily="34" charset="-120"/>
              </a:rPr>
              <a:t>The REVOKE command acts as an explicit safety lock for the customer role.</a:t>
            </a:r>
            <a:endParaRPr lang="en-US" sz="1150" dirty="0"/>
          </a:p>
        </p:txBody>
      </p:sp>
      <p:sp>
        <p:nvSpPr>
          <p:cNvPr id="13" name="Shape 7"/>
          <p:cNvSpPr/>
          <p:nvPr/>
        </p:nvSpPr>
        <p:spPr>
          <a:xfrm>
            <a:off x="4572000" y="1051560"/>
            <a:ext cx="4206240" cy="3657600"/>
          </a:xfrm>
          <a:prstGeom prst="rect">
            <a:avLst/>
          </a:prstGeom>
          <a:solidFill>
            <a:srgbClr val="111827"/>
          </a:solidFill>
          <a:ln w="12700">
            <a:solidFill>
              <a:srgbClr val="374151"/>
            </a:solidFill>
            <a:prstDash val="solid"/>
          </a:ln>
          <a:effectLst>
            <a:outerShdw sx="100000" sy="100000" kx="0" ky="0" algn="bl" rotWithShape="0" blurRad="127000" dist="38100" dir="8100000">
              <a:srgbClr val="000000">
                <a:alpha val="20000"/>
              </a:srgbClr>
            </a:outerShdw>
          </a:effectLst>
        </p:spPr>
      </p:sp>
      <p:sp>
        <p:nvSpPr>
          <p:cNvPr id="14" name="Shape 8"/>
          <p:cNvSpPr/>
          <p:nvPr/>
        </p:nvSpPr>
        <p:spPr>
          <a:xfrm>
            <a:off x="4754880" y="1207008"/>
            <a:ext cx="146304" cy="146304"/>
          </a:xfrm>
          <a:prstGeom prst="ellipse">
            <a:avLst/>
          </a:prstGeom>
          <a:solidFill>
            <a:srgbClr val="EF4444"/>
          </a:solidFill>
          <a:ln w="12700">
            <a:solidFill>
              <a:srgbClr val="EF4444"/>
            </a:solidFill>
            <a:prstDash val="solid"/>
          </a:ln>
        </p:spPr>
      </p:sp>
      <p:sp>
        <p:nvSpPr>
          <p:cNvPr id="15" name="Shape 9"/>
          <p:cNvSpPr/>
          <p:nvPr/>
        </p:nvSpPr>
        <p:spPr>
          <a:xfrm>
            <a:off x="5010912" y="1207008"/>
            <a:ext cx="146304" cy="146304"/>
          </a:xfrm>
          <a:prstGeom prst="ellipse">
            <a:avLst/>
          </a:prstGeom>
          <a:solidFill>
            <a:srgbClr val="F59E0B"/>
          </a:solidFill>
          <a:ln w="12700">
            <a:solidFill>
              <a:srgbClr val="F59E0B"/>
            </a:solidFill>
            <a:prstDash val="solid"/>
          </a:ln>
        </p:spPr>
      </p:sp>
      <p:sp>
        <p:nvSpPr>
          <p:cNvPr id="16" name="Shape 10"/>
          <p:cNvSpPr/>
          <p:nvPr/>
        </p:nvSpPr>
        <p:spPr>
          <a:xfrm>
            <a:off x="5266944" y="1207008"/>
            <a:ext cx="146304" cy="146304"/>
          </a:xfrm>
          <a:prstGeom prst="ellipse">
            <a:avLst/>
          </a:prstGeom>
          <a:solidFill>
            <a:srgbClr val="10B981"/>
          </a:solidFill>
          <a:ln w="12700">
            <a:solidFill>
              <a:srgbClr val="10B981"/>
            </a:solidFill>
            <a:prstDash val="solid"/>
          </a:ln>
        </p:spPr>
      </p:sp>
      <p:sp>
        <p:nvSpPr>
          <p:cNvPr id="17" name="Text 11"/>
          <p:cNvSpPr/>
          <p:nvPr/>
        </p:nvSpPr>
        <p:spPr>
          <a:xfrm>
            <a:off x="4709160" y="1481328"/>
            <a:ext cx="3931920" cy="256032"/>
          </a:xfrm>
          <a:prstGeom prst="rect">
            <a:avLst/>
          </a:prstGeom>
          <a:noFill/>
          <a:ln/>
        </p:spPr>
        <p:txBody>
          <a:bodyPr wrap="square" rtlCol="0" anchor="ctr"/>
          <a:lstStyle/>
          <a:p>
            <a:pPr indent="0" marL="0">
              <a:buNone/>
            </a:pPr>
            <a:r>
              <a:rPr lang="en-US" sz="1100" dirty="0">
                <a:solidFill>
                  <a:srgbClr val="6B7280"/>
                </a:solidFill>
                <a:latin typeface="Consolas" pitchFamily="34" charset="0"/>
                <a:ea typeface="Consolas" pitchFamily="34" charset="-122"/>
                <a:cs typeface="Consolas" pitchFamily="34" charset="-120"/>
              </a:rPr>
              <a:t>-- Security Commands --</a:t>
            </a:r>
            <a:endParaRPr lang="en-US" sz="1100" dirty="0"/>
          </a:p>
        </p:txBody>
      </p:sp>
      <p:sp>
        <p:nvSpPr>
          <p:cNvPr id="18" name="Text 12"/>
          <p:cNvSpPr/>
          <p:nvPr/>
        </p:nvSpPr>
        <p:spPr>
          <a:xfrm>
            <a:off x="4709160" y="1847088"/>
            <a:ext cx="3931920" cy="2560320"/>
          </a:xfrm>
          <a:prstGeom prst="rect">
            <a:avLst/>
          </a:prstGeom>
          <a:noFill/>
          <a:ln/>
        </p:spPr>
        <p:txBody>
          <a:bodyPr wrap="square" rtlCol="0" anchor="ctr"/>
          <a:lstStyle/>
          <a:p>
            <a:pPr indent="0" marL="0">
              <a:buNone/>
            </a:pPr>
            <a:r>
              <a:rPr lang="en-US" sz="1200" dirty="0">
                <a:solidFill>
                  <a:srgbClr val="60A5FA"/>
                </a:solidFill>
                <a:latin typeface="Consolas" pitchFamily="34" charset="0"/>
                <a:ea typeface="Consolas" pitchFamily="34" charset="-122"/>
                <a:cs typeface="Consolas" pitchFamily="34" charset="-120"/>
              </a:rPr>
              <a:t>GRANT </a:t>
            </a:r>
            <a:pPr indent="0" marL="0">
              <a:buNone/>
            </a:pPr>
            <a:r>
              <a:rPr lang="en-US" sz="1200" dirty="0">
                <a:solidFill>
                  <a:srgbClr val="E5E7EB"/>
                </a:solidFill>
                <a:latin typeface="Consolas" pitchFamily="34" charset="0"/>
                <a:ea typeface="Consolas" pitchFamily="34" charset="-122"/>
                <a:cs typeface="Consolas" pitchFamily="34" charset="-120"/>
              </a:rPr>
              <a:t>SELECT, INSERT
</a:t>
            </a:r>
            <a:pPr indent="0" marL="0">
              <a:buNone/>
            </a:pPr>
            <a:r>
              <a:rPr lang="en-US" sz="1200" dirty="0">
                <a:solidFill>
                  <a:srgbClr val="60A5FA"/>
                </a:solidFill>
                <a:latin typeface="Consolas" pitchFamily="34" charset="0"/>
                <a:ea typeface="Consolas" pitchFamily="34" charset="-122"/>
                <a:cs typeface="Consolas" pitchFamily="34" charset="-120"/>
              </a:rPr>
              <a:t>ON </a:t>
            </a:r>
            <a:pPr indent="0" marL="0">
              <a:buNone/>
            </a:pPr>
            <a:r>
              <a:rPr lang="en-US" sz="1200" dirty="0">
                <a:solidFill>
                  <a:srgbClr val="FDE68A"/>
                </a:solidFill>
                <a:latin typeface="Consolas" pitchFamily="34" charset="0"/>
                <a:ea typeface="Consolas" pitchFamily="34" charset="-122"/>
                <a:cs typeface="Consolas" pitchFamily="34" charset="-120"/>
              </a:rPr>
              <a:t>OnlineShopping.*
</a:t>
            </a:r>
            <a:pPr indent="0" marL="0">
              <a:buNone/>
            </a:pPr>
            <a:r>
              <a:rPr lang="en-US" sz="1200" dirty="0">
                <a:solidFill>
                  <a:srgbClr val="60A5FA"/>
                </a:solidFill>
                <a:latin typeface="Consolas" pitchFamily="34" charset="0"/>
                <a:ea typeface="Consolas" pitchFamily="34" charset="-122"/>
                <a:cs typeface="Consolas" pitchFamily="34" charset="-120"/>
              </a:rPr>
              <a:t>TO </a:t>
            </a:r>
            <a:pPr indent="0" marL="0">
              <a:buNone/>
            </a:pPr>
            <a:r>
              <a:rPr lang="en-US" sz="1200" dirty="0">
                <a:solidFill>
                  <a:srgbClr val="A7F3D0"/>
                </a:solidFill>
                <a:latin typeface="Consolas" pitchFamily="34" charset="0"/>
                <a:ea typeface="Consolas" pitchFamily="34" charset="-122"/>
                <a:cs typeface="Consolas" pitchFamily="34" charset="-120"/>
              </a:rPr>
              <a:t>'customer_user'@'localhost';
</a:t>
            </a:r>
            <a:pPr indent="0" marL="0">
              <a:buNone/>
            </a:pPr>
            <a:r>
              <a:rPr lang="en-US" sz="1200" dirty="0">
                <a:solidFill>
                  <a:srgbClr val="F87171"/>
                </a:solidFill>
                <a:latin typeface="Consolas" pitchFamily="34" charset="0"/>
                <a:ea typeface="Consolas" pitchFamily="34" charset="-122"/>
                <a:cs typeface="Consolas" pitchFamily="34" charset="-120"/>
              </a:rPr>
              <a:t>REVOKE </a:t>
            </a:r>
            <a:pPr indent="0" marL="0">
              <a:buNone/>
            </a:pPr>
            <a:r>
              <a:rPr lang="en-US" sz="1200" dirty="0">
                <a:solidFill>
                  <a:srgbClr val="E5E7EB"/>
                </a:solidFill>
                <a:latin typeface="Consolas" pitchFamily="34" charset="0"/>
                <a:ea typeface="Consolas" pitchFamily="34" charset="-122"/>
                <a:cs typeface="Consolas" pitchFamily="34" charset="-120"/>
              </a:rPr>
              <a:t>DELETE
</a:t>
            </a:r>
            <a:pPr indent="0" marL="0">
              <a:buNone/>
            </a:pPr>
            <a:r>
              <a:rPr lang="en-US" sz="1200" dirty="0">
                <a:solidFill>
                  <a:srgbClr val="60A5FA"/>
                </a:solidFill>
                <a:latin typeface="Consolas" pitchFamily="34" charset="0"/>
                <a:ea typeface="Consolas" pitchFamily="34" charset="-122"/>
                <a:cs typeface="Consolas" pitchFamily="34" charset="-120"/>
              </a:rPr>
              <a:t>ON </a:t>
            </a:r>
            <a:pPr indent="0" marL="0">
              <a:buNone/>
            </a:pPr>
            <a:r>
              <a:rPr lang="en-US" sz="1200" dirty="0">
                <a:solidFill>
                  <a:srgbClr val="FDE68A"/>
                </a:solidFill>
                <a:latin typeface="Consolas" pitchFamily="34" charset="0"/>
                <a:ea typeface="Consolas" pitchFamily="34" charset="-122"/>
                <a:cs typeface="Consolas" pitchFamily="34" charset="-120"/>
              </a:rPr>
              <a:t>OnlineShopping.*
</a:t>
            </a:r>
            <a:pPr indent="0" marL="0">
              <a:buNone/>
            </a:pPr>
            <a:r>
              <a:rPr lang="en-US" sz="1200" dirty="0">
                <a:solidFill>
                  <a:srgbClr val="60A5FA"/>
                </a:solidFill>
                <a:latin typeface="Consolas" pitchFamily="34" charset="0"/>
                <a:ea typeface="Consolas" pitchFamily="34" charset="-122"/>
                <a:cs typeface="Consolas" pitchFamily="34" charset="-120"/>
              </a:rPr>
              <a:t>FROM </a:t>
            </a:r>
            <a:pPr indent="0" marL="0">
              <a:buNone/>
            </a:pPr>
            <a:r>
              <a:rPr lang="en-US" sz="1200" dirty="0">
                <a:solidFill>
                  <a:srgbClr val="A7F3D0"/>
                </a:solidFill>
                <a:latin typeface="Consolas" pitchFamily="34" charset="0"/>
                <a:ea typeface="Consolas" pitchFamily="34" charset="-122"/>
                <a:cs typeface="Consolas" pitchFamily="34" charset="-120"/>
              </a:rPr>
              <a:t>'customer_user'@'localhost';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1B3C"/>
          </a:solidFill>
          <a:ln w="12700">
            <a:solidFill>
              <a:srgbClr val="0F1B3C"/>
            </a:solidFill>
            <a:prstDash val="solid"/>
          </a:ln>
        </p:spPr>
      </p:sp>
      <p:sp>
        <p:nvSpPr>
          <p:cNvPr id="3" name="Text 1"/>
          <p:cNvSpPr/>
          <p:nvPr/>
        </p:nvSpPr>
        <p:spPr>
          <a:xfrm>
            <a:off x="457200" y="0"/>
            <a:ext cx="8229600" cy="9601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Testing the Security Model</a:t>
            </a:r>
            <a:endParaRPr lang="en-US" sz="3000" dirty="0"/>
          </a:p>
        </p:txBody>
      </p:sp>
      <p:sp>
        <p:nvSpPr>
          <p:cNvPr id="4" name="Text 2"/>
          <p:cNvSpPr/>
          <p:nvPr/>
        </p:nvSpPr>
        <p:spPr>
          <a:xfrm>
            <a:off x="457200" y="1005840"/>
            <a:ext cx="8229600" cy="365760"/>
          </a:xfrm>
          <a:prstGeom prst="rect">
            <a:avLst/>
          </a:prstGeom>
          <a:noFill/>
          <a:ln/>
        </p:spPr>
        <p:txBody>
          <a:bodyPr wrap="square" rtlCol="0" anchor="ctr"/>
          <a:lstStyle/>
          <a:p>
            <a:pPr indent="0" marL="0">
              <a:buNone/>
            </a:pPr>
            <a:r>
              <a:rPr lang="en-US" sz="1250" dirty="0">
                <a:solidFill>
                  <a:srgbClr val="4B5563"/>
                </a:solidFill>
                <a:latin typeface="Calibri" pitchFamily="34" charset="0"/>
                <a:ea typeface="Calibri" pitchFamily="34" charset="-122"/>
                <a:cs typeface="Calibri" pitchFamily="34" charset="-120"/>
              </a:rPr>
              <a:t>System security was verified through Terminal (CLI) testing to confirm the "Refusal Logic".</a:t>
            </a:r>
            <a:endParaRPr lang="en-US" sz="1250" dirty="0"/>
          </a:p>
        </p:txBody>
      </p:sp>
      <p:sp>
        <p:nvSpPr>
          <p:cNvPr id="5" name="Shape 3"/>
          <p:cNvSpPr/>
          <p:nvPr/>
        </p:nvSpPr>
        <p:spPr>
          <a:xfrm>
            <a:off x="320040" y="1463040"/>
            <a:ext cx="1691640" cy="457200"/>
          </a:xfrm>
          <a:prstGeom prst="rect">
            <a:avLst/>
          </a:prstGeom>
          <a:solidFill>
            <a:srgbClr val="0F1B3C"/>
          </a:solidFill>
          <a:ln w="12700">
            <a:solidFill>
              <a:srgbClr val="1E3A8A"/>
            </a:solidFill>
            <a:prstDash val="solid"/>
          </a:ln>
        </p:spPr>
      </p:sp>
      <p:sp>
        <p:nvSpPr>
          <p:cNvPr id="6" name="Text 4"/>
          <p:cNvSpPr/>
          <p:nvPr/>
        </p:nvSpPr>
        <p:spPr>
          <a:xfrm>
            <a:off x="320040" y="1463040"/>
            <a:ext cx="16916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Test Case</a:t>
            </a:r>
            <a:endParaRPr lang="en-US" sz="1200" dirty="0"/>
          </a:p>
        </p:txBody>
      </p:sp>
      <p:sp>
        <p:nvSpPr>
          <p:cNvPr id="7" name="Shape 5"/>
          <p:cNvSpPr/>
          <p:nvPr/>
        </p:nvSpPr>
        <p:spPr>
          <a:xfrm>
            <a:off x="2011680" y="1463040"/>
            <a:ext cx="2103120" cy="457200"/>
          </a:xfrm>
          <a:prstGeom prst="rect">
            <a:avLst/>
          </a:prstGeom>
          <a:solidFill>
            <a:srgbClr val="0F1B3C"/>
          </a:solidFill>
          <a:ln w="12700">
            <a:solidFill>
              <a:srgbClr val="1E3A8A"/>
            </a:solidFill>
            <a:prstDash val="solid"/>
          </a:ln>
        </p:spPr>
      </p:sp>
      <p:sp>
        <p:nvSpPr>
          <p:cNvPr id="8" name="Text 6"/>
          <p:cNvSpPr/>
          <p:nvPr/>
        </p:nvSpPr>
        <p:spPr>
          <a:xfrm>
            <a:off x="2011680" y="1463040"/>
            <a:ext cx="210312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User Action</a:t>
            </a:r>
            <a:endParaRPr lang="en-US" sz="1200" dirty="0"/>
          </a:p>
        </p:txBody>
      </p:sp>
      <p:sp>
        <p:nvSpPr>
          <p:cNvPr id="9" name="Shape 7"/>
          <p:cNvSpPr/>
          <p:nvPr/>
        </p:nvSpPr>
        <p:spPr>
          <a:xfrm>
            <a:off x="4114800" y="1463040"/>
            <a:ext cx="3017520" cy="457200"/>
          </a:xfrm>
          <a:prstGeom prst="rect">
            <a:avLst/>
          </a:prstGeom>
          <a:solidFill>
            <a:srgbClr val="0F1B3C"/>
          </a:solidFill>
          <a:ln w="12700">
            <a:solidFill>
              <a:srgbClr val="1E3A8A"/>
            </a:solidFill>
            <a:prstDash val="solid"/>
          </a:ln>
        </p:spPr>
      </p:sp>
      <p:sp>
        <p:nvSpPr>
          <p:cNvPr id="10" name="Text 8"/>
          <p:cNvSpPr/>
          <p:nvPr/>
        </p:nvSpPr>
        <p:spPr>
          <a:xfrm>
            <a:off x="4114800" y="1463040"/>
            <a:ext cx="301752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Expected Result</a:t>
            </a:r>
            <a:endParaRPr lang="en-US" sz="1200" dirty="0"/>
          </a:p>
        </p:txBody>
      </p:sp>
      <p:sp>
        <p:nvSpPr>
          <p:cNvPr id="11" name="Shape 9"/>
          <p:cNvSpPr/>
          <p:nvPr/>
        </p:nvSpPr>
        <p:spPr>
          <a:xfrm>
            <a:off x="7132320" y="1463040"/>
            <a:ext cx="1005840" cy="457200"/>
          </a:xfrm>
          <a:prstGeom prst="rect">
            <a:avLst/>
          </a:prstGeom>
          <a:solidFill>
            <a:srgbClr val="0F1B3C"/>
          </a:solidFill>
          <a:ln w="12700">
            <a:solidFill>
              <a:srgbClr val="1E3A8A"/>
            </a:solidFill>
            <a:prstDash val="solid"/>
          </a:ln>
        </p:spPr>
      </p:sp>
      <p:sp>
        <p:nvSpPr>
          <p:cNvPr id="12" name="Text 10"/>
          <p:cNvSpPr/>
          <p:nvPr/>
        </p:nvSpPr>
        <p:spPr>
          <a:xfrm>
            <a:off x="7132320" y="1463040"/>
            <a:ext cx="10058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p>
        </p:txBody>
      </p:sp>
      <p:sp>
        <p:nvSpPr>
          <p:cNvPr id="13" name="Shape 11"/>
          <p:cNvSpPr/>
          <p:nvPr/>
        </p:nvSpPr>
        <p:spPr>
          <a:xfrm>
            <a:off x="320040" y="1920240"/>
            <a:ext cx="1691640" cy="777240"/>
          </a:xfrm>
          <a:prstGeom prst="rect">
            <a:avLst/>
          </a:prstGeom>
          <a:solidFill>
            <a:srgbClr val="FFFFFF"/>
          </a:solidFill>
          <a:ln w="12700">
            <a:solidFill>
              <a:srgbClr val="E2E8F0"/>
            </a:solidFill>
            <a:prstDash val="solid"/>
          </a:ln>
        </p:spPr>
      </p:sp>
      <p:sp>
        <p:nvSpPr>
          <p:cNvPr id="14" name="Text 12"/>
          <p:cNvSpPr/>
          <p:nvPr/>
        </p:nvSpPr>
        <p:spPr>
          <a:xfrm>
            <a:off x="374904" y="1920240"/>
            <a:ext cx="1581912" cy="777240"/>
          </a:xfrm>
          <a:prstGeom prst="rect">
            <a:avLst/>
          </a:prstGeom>
          <a:noFill/>
          <a:ln/>
        </p:spPr>
        <p:txBody>
          <a:bodyPr wrap="square" rtlCol="0" anchor="ctr"/>
          <a:lstStyle/>
          <a:p>
            <a:pPr algn="l" indent="0" marL="0">
              <a:buNone/>
            </a:pPr>
            <a:r>
              <a:rPr lang="en-US" sz="1150" dirty="0">
                <a:solidFill>
                  <a:srgbClr val="0F1B3C"/>
                </a:solidFill>
                <a:latin typeface="Calibri" pitchFamily="34" charset="0"/>
                <a:ea typeface="Calibri" pitchFamily="34" charset="-122"/>
                <a:cs typeface="Calibri" pitchFamily="34" charset="-120"/>
              </a:rPr>
              <a:t>Admin Access</a:t>
            </a:r>
            <a:endParaRPr lang="en-US" sz="1150" dirty="0"/>
          </a:p>
        </p:txBody>
      </p:sp>
      <p:sp>
        <p:nvSpPr>
          <p:cNvPr id="15" name="Shape 13"/>
          <p:cNvSpPr/>
          <p:nvPr/>
        </p:nvSpPr>
        <p:spPr>
          <a:xfrm>
            <a:off x="2011680" y="1920240"/>
            <a:ext cx="2103120" cy="777240"/>
          </a:xfrm>
          <a:prstGeom prst="rect">
            <a:avLst/>
          </a:prstGeom>
          <a:solidFill>
            <a:srgbClr val="FFFFFF"/>
          </a:solidFill>
          <a:ln w="12700">
            <a:solidFill>
              <a:srgbClr val="E2E8F0"/>
            </a:solidFill>
            <a:prstDash val="solid"/>
          </a:ln>
        </p:spPr>
      </p:sp>
      <p:sp>
        <p:nvSpPr>
          <p:cNvPr id="16" name="Text 14"/>
          <p:cNvSpPr/>
          <p:nvPr/>
        </p:nvSpPr>
        <p:spPr>
          <a:xfrm>
            <a:off x="2066544" y="1920240"/>
            <a:ext cx="1993392" cy="777240"/>
          </a:xfrm>
          <a:prstGeom prst="rect">
            <a:avLst/>
          </a:prstGeom>
          <a:noFill/>
          <a:ln/>
        </p:spPr>
        <p:txBody>
          <a:bodyPr wrap="square" rtlCol="0" anchor="ctr"/>
          <a:lstStyle/>
          <a:p>
            <a:pPr algn="l" indent="0" marL="0">
              <a:buNone/>
            </a:pPr>
            <a:r>
              <a:rPr lang="en-US" sz="1150" dirty="0">
                <a:solidFill>
                  <a:srgbClr val="0F1B3C"/>
                </a:solidFill>
                <a:latin typeface="Calibri" pitchFamily="34" charset="0"/>
                <a:ea typeface="Calibri" pitchFamily="34" charset="-122"/>
                <a:cs typeface="Calibri" pitchFamily="34" charset="-120"/>
              </a:rPr>
              <a:t>Delete Product ID #5</a:t>
            </a:r>
            <a:endParaRPr lang="en-US" sz="1150" dirty="0"/>
          </a:p>
        </p:txBody>
      </p:sp>
      <p:sp>
        <p:nvSpPr>
          <p:cNvPr id="17" name="Shape 15"/>
          <p:cNvSpPr/>
          <p:nvPr/>
        </p:nvSpPr>
        <p:spPr>
          <a:xfrm>
            <a:off x="4114800" y="1920240"/>
            <a:ext cx="3017520" cy="777240"/>
          </a:xfrm>
          <a:prstGeom prst="rect">
            <a:avLst/>
          </a:prstGeom>
          <a:solidFill>
            <a:srgbClr val="FFFFFF"/>
          </a:solidFill>
          <a:ln w="12700">
            <a:solidFill>
              <a:srgbClr val="E2E8F0"/>
            </a:solidFill>
            <a:prstDash val="solid"/>
          </a:ln>
        </p:spPr>
      </p:sp>
      <p:sp>
        <p:nvSpPr>
          <p:cNvPr id="18" name="Text 16"/>
          <p:cNvSpPr/>
          <p:nvPr/>
        </p:nvSpPr>
        <p:spPr>
          <a:xfrm>
            <a:off x="4169664" y="1920240"/>
            <a:ext cx="2907792" cy="777240"/>
          </a:xfrm>
          <a:prstGeom prst="rect">
            <a:avLst/>
          </a:prstGeom>
          <a:noFill/>
          <a:ln/>
        </p:spPr>
        <p:txBody>
          <a:bodyPr wrap="square" rtlCol="0" anchor="ctr"/>
          <a:lstStyle/>
          <a:p>
            <a:pPr algn="l" indent="0" marL="0">
              <a:buNone/>
            </a:pPr>
            <a:r>
              <a:rPr lang="en-US" sz="1150" dirty="0">
                <a:solidFill>
                  <a:srgbClr val="0F1B3C"/>
                </a:solidFill>
                <a:latin typeface="Calibri" pitchFamily="34" charset="0"/>
                <a:ea typeface="Calibri" pitchFamily="34" charset="-122"/>
                <a:cs typeface="Calibri" pitchFamily="34" charset="-120"/>
              </a:rPr>
              <a:t>Success – Admin can delete any record</a:t>
            </a:r>
            <a:endParaRPr lang="en-US" sz="1150" dirty="0"/>
          </a:p>
        </p:txBody>
      </p:sp>
      <p:sp>
        <p:nvSpPr>
          <p:cNvPr id="19" name="Shape 17"/>
          <p:cNvSpPr/>
          <p:nvPr/>
        </p:nvSpPr>
        <p:spPr>
          <a:xfrm>
            <a:off x="7132320" y="1920240"/>
            <a:ext cx="1005840" cy="777240"/>
          </a:xfrm>
          <a:prstGeom prst="rect">
            <a:avLst/>
          </a:prstGeom>
          <a:solidFill>
            <a:srgbClr val="FFFFFF"/>
          </a:solidFill>
          <a:ln w="12700">
            <a:solidFill>
              <a:srgbClr val="E2E8F0"/>
            </a:solidFill>
            <a:prstDash val="solid"/>
          </a:ln>
        </p:spPr>
      </p:sp>
      <p:sp>
        <p:nvSpPr>
          <p:cNvPr id="20" name="Text 18"/>
          <p:cNvSpPr/>
          <p:nvPr/>
        </p:nvSpPr>
        <p:spPr>
          <a:xfrm>
            <a:off x="7187184" y="1920240"/>
            <a:ext cx="896112" cy="777240"/>
          </a:xfrm>
          <a:prstGeom prst="rect">
            <a:avLst/>
          </a:prstGeom>
          <a:noFill/>
          <a:ln/>
        </p:spPr>
        <p:txBody>
          <a:bodyPr wrap="square" rtlCol="0" anchor="ctr"/>
          <a:lstStyle/>
          <a:p>
            <a:pPr algn="ctr" indent="0" marL="0">
              <a:buNone/>
            </a:pPr>
            <a:r>
              <a:rPr lang="en-US" sz="1300" b="1" dirty="0">
                <a:solidFill>
                  <a:srgbClr val="10B981"/>
                </a:solidFill>
                <a:latin typeface="Calibri" pitchFamily="34" charset="0"/>
                <a:ea typeface="Calibri" pitchFamily="34" charset="-122"/>
                <a:cs typeface="Calibri" pitchFamily="34" charset="-120"/>
              </a:rPr>
              <a:t>PASS</a:t>
            </a:r>
            <a:endParaRPr lang="en-US" sz="1300" dirty="0"/>
          </a:p>
        </p:txBody>
      </p:sp>
      <p:sp>
        <p:nvSpPr>
          <p:cNvPr id="21" name="Shape 19"/>
          <p:cNvSpPr/>
          <p:nvPr/>
        </p:nvSpPr>
        <p:spPr>
          <a:xfrm>
            <a:off x="320040" y="2788920"/>
            <a:ext cx="1691640" cy="777240"/>
          </a:xfrm>
          <a:prstGeom prst="rect">
            <a:avLst/>
          </a:prstGeom>
          <a:solidFill>
            <a:srgbClr val="EFF6FF"/>
          </a:solidFill>
          <a:ln w="12700">
            <a:solidFill>
              <a:srgbClr val="E2E8F0"/>
            </a:solidFill>
            <a:prstDash val="solid"/>
          </a:ln>
        </p:spPr>
      </p:sp>
      <p:sp>
        <p:nvSpPr>
          <p:cNvPr id="22" name="Text 20"/>
          <p:cNvSpPr/>
          <p:nvPr/>
        </p:nvSpPr>
        <p:spPr>
          <a:xfrm>
            <a:off x="374904" y="2788920"/>
            <a:ext cx="1581912" cy="777240"/>
          </a:xfrm>
          <a:prstGeom prst="rect">
            <a:avLst/>
          </a:prstGeom>
          <a:noFill/>
          <a:ln/>
        </p:spPr>
        <p:txBody>
          <a:bodyPr wrap="square" rtlCol="0" anchor="ctr"/>
          <a:lstStyle/>
          <a:p>
            <a:pPr algn="l" indent="0" marL="0">
              <a:buNone/>
            </a:pPr>
            <a:r>
              <a:rPr lang="en-US" sz="1150" dirty="0">
                <a:solidFill>
                  <a:srgbClr val="0F1B3C"/>
                </a:solidFill>
                <a:latin typeface="Calibri" pitchFamily="34" charset="0"/>
                <a:ea typeface="Calibri" pitchFamily="34" charset="-122"/>
                <a:cs typeface="Calibri" pitchFamily="34" charset="-120"/>
              </a:rPr>
              <a:t>User Restriction</a:t>
            </a:r>
            <a:endParaRPr lang="en-US" sz="1150" dirty="0"/>
          </a:p>
        </p:txBody>
      </p:sp>
      <p:sp>
        <p:nvSpPr>
          <p:cNvPr id="23" name="Shape 21"/>
          <p:cNvSpPr/>
          <p:nvPr/>
        </p:nvSpPr>
        <p:spPr>
          <a:xfrm>
            <a:off x="2011680" y="2788920"/>
            <a:ext cx="2103120" cy="777240"/>
          </a:xfrm>
          <a:prstGeom prst="rect">
            <a:avLst/>
          </a:prstGeom>
          <a:solidFill>
            <a:srgbClr val="EFF6FF"/>
          </a:solidFill>
          <a:ln w="12700">
            <a:solidFill>
              <a:srgbClr val="E2E8F0"/>
            </a:solidFill>
            <a:prstDash val="solid"/>
          </a:ln>
        </p:spPr>
      </p:sp>
      <p:sp>
        <p:nvSpPr>
          <p:cNvPr id="24" name="Text 22"/>
          <p:cNvSpPr/>
          <p:nvPr/>
        </p:nvSpPr>
        <p:spPr>
          <a:xfrm>
            <a:off x="2066544" y="2788920"/>
            <a:ext cx="1993392" cy="777240"/>
          </a:xfrm>
          <a:prstGeom prst="rect">
            <a:avLst/>
          </a:prstGeom>
          <a:noFill/>
          <a:ln/>
        </p:spPr>
        <p:txBody>
          <a:bodyPr wrap="square" rtlCol="0" anchor="ctr"/>
          <a:lstStyle/>
          <a:p>
            <a:pPr algn="l" indent="0" marL="0">
              <a:buNone/>
            </a:pPr>
            <a:r>
              <a:rPr lang="en-US" sz="1150" dirty="0">
                <a:solidFill>
                  <a:srgbClr val="0F1B3C"/>
                </a:solidFill>
                <a:latin typeface="Calibri" pitchFamily="34" charset="0"/>
                <a:ea typeface="Calibri" pitchFamily="34" charset="-122"/>
                <a:cs typeface="Calibri" pitchFamily="34" charset="-120"/>
              </a:rPr>
              <a:t>Delete Customer Record</a:t>
            </a:r>
            <a:endParaRPr lang="en-US" sz="1150" dirty="0"/>
          </a:p>
        </p:txBody>
      </p:sp>
      <p:sp>
        <p:nvSpPr>
          <p:cNvPr id="25" name="Shape 23"/>
          <p:cNvSpPr/>
          <p:nvPr/>
        </p:nvSpPr>
        <p:spPr>
          <a:xfrm>
            <a:off x="4114800" y="2788920"/>
            <a:ext cx="3017520" cy="777240"/>
          </a:xfrm>
          <a:prstGeom prst="rect">
            <a:avLst/>
          </a:prstGeom>
          <a:solidFill>
            <a:srgbClr val="EFF6FF"/>
          </a:solidFill>
          <a:ln w="12700">
            <a:solidFill>
              <a:srgbClr val="E2E8F0"/>
            </a:solidFill>
            <a:prstDash val="solid"/>
          </a:ln>
        </p:spPr>
      </p:sp>
      <p:sp>
        <p:nvSpPr>
          <p:cNvPr id="26" name="Text 24"/>
          <p:cNvSpPr/>
          <p:nvPr/>
        </p:nvSpPr>
        <p:spPr>
          <a:xfrm>
            <a:off x="4169664" y="2788920"/>
            <a:ext cx="2907792" cy="777240"/>
          </a:xfrm>
          <a:prstGeom prst="rect">
            <a:avLst/>
          </a:prstGeom>
          <a:noFill/>
          <a:ln/>
        </p:spPr>
        <p:txBody>
          <a:bodyPr wrap="square" rtlCol="0" anchor="ctr"/>
          <a:lstStyle/>
          <a:p>
            <a:pPr algn="l" indent="0" marL="0">
              <a:buNone/>
            </a:pPr>
            <a:r>
              <a:rPr lang="en-US" sz="1150" dirty="0">
                <a:solidFill>
                  <a:srgbClr val="0F1B3C"/>
                </a:solidFill>
                <a:latin typeface="Calibri" pitchFamily="34" charset="0"/>
                <a:ea typeface="Calibri" pitchFamily="34" charset="-122"/>
                <a:cs typeface="Calibri" pitchFamily="34" charset="-120"/>
              </a:rPr>
              <a:t>ERROR 1142: Access Denied</a:t>
            </a:r>
            <a:endParaRPr lang="en-US" sz="1150" dirty="0"/>
          </a:p>
        </p:txBody>
      </p:sp>
      <p:sp>
        <p:nvSpPr>
          <p:cNvPr id="27" name="Shape 25"/>
          <p:cNvSpPr/>
          <p:nvPr/>
        </p:nvSpPr>
        <p:spPr>
          <a:xfrm>
            <a:off x="7132320" y="2788920"/>
            <a:ext cx="1005840" cy="777240"/>
          </a:xfrm>
          <a:prstGeom prst="rect">
            <a:avLst/>
          </a:prstGeom>
          <a:solidFill>
            <a:srgbClr val="EFF6FF"/>
          </a:solidFill>
          <a:ln w="12700">
            <a:solidFill>
              <a:srgbClr val="E2E8F0"/>
            </a:solidFill>
            <a:prstDash val="solid"/>
          </a:ln>
        </p:spPr>
      </p:sp>
      <p:sp>
        <p:nvSpPr>
          <p:cNvPr id="28" name="Text 26"/>
          <p:cNvSpPr/>
          <p:nvPr/>
        </p:nvSpPr>
        <p:spPr>
          <a:xfrm>
            <a:off x="7187184" y="2788920"/>
            <a:ext cx="896112" cy="777240"/>
          </a:xfrm>
          <a:prstGeom prst="rect">
            <a:avLst/>
          </a:prstGeom>
          <a:noFill/>
          <a:ln/>
        </p:spPr>
        <p:txBody>
          <a:bodyPr wrap="square" rtlCol="0" anchor="ctr"/>
          <a:lstStyle/>
          <a:p>
            <a:pPr algn="ctr" indent="0" marL="0">
              <a:buNone/>
            </a:pPr>
            <a:r>
              <a:rPr lang="en-US" sz="1300" b="1" dirty="0">
                <a:solidFill>
                  <a:srgbClr val="10B981"/>
                </a:solidFill>
                <a:latin typeface="Calibri" pitchFamily="34" charset="0"/>
                <a:ea typeface="Calibri" pitchFamily="34" charset="-122"/>
                <a:cs typeface="Calibri" pitchFamily="34" charset="-120"/>
              </a:rPr>
              <a:t>PASS</a:t>
            </a:r>
            <a:endParaRPr lang="en-US" sz="1300" dirty="0"/>
          </a:p>
        </p:txBody>
      </p:sp>
      <p:sp>
        <p:nvSpPr>
          <p:cNvPr id="29" name="Shape 27"/>
          <p:cNvSpPr/>
          <p:nvPr/>
        </p:nvSpPr>
        <p:spPr>
          <a:xfrm>
            <a:off x="320040" y="3657600"/>
            <a:ext cx="1691640" cy="777240"/>
          </a:xfrm>
          <a:prstGeom prst="rect">
            <a:avLst/>
          </a:prstGeom>
          <a:solidFill>
            <a:srgbClr val="FFFFFF"/>
          </a:solidFill>
          <a:ln w="12700">
            <a:solidFill>
              <a:srgbClr val="E2E8F0"/>
            </a:solidFill>
            <a:prstDash val="solid"/>
          </a:ln>
        </p:spPr>
      </p:sp>
      <p:sp>
        <p:nvSpPr>
          <p:cNvPr id="30" name="Text 28"/>
          <p:cNvSpPr/>
          <p:nvPr/>
        </p:nvSpPr>
        <p:spPr>
          <a:xfrm>
            <a:off x="374904" y="3657600"/>
            <a:ext cx="1581912" cy="777240"/>
          </a:xfrm>
          <a:prstGeom prst="rect">
            <a:avLst/>
          </a:prstGeom>
          <a:noFill/>
          <a:ln/>
        </p:spPr>
        <p:txBody>
          <a:bodyPr wrap="square" rtlCol="0" anchor="ctr"/>
          <a:lstStyle/>
          <a:p>
            <a:pPr algn="l" indent="0" marL="0">
              <a:buNone/>
            </a:pPr>
            <a:r>
              <a:rPr lang="en-US" sz="1150" dirty="0">
                <a:solidFill>
                  <a:srgbClr val="0F1B3C"/>
                </a:solidFill>
                <a:latin typeface="Calibri" pitchFamily="34" charset="0"/>
                <a:ea typeface="Calibri" pitchFamily="34" charset="-122"/>
                <a:cs typeface="Calibri" pitchFamily="34" charset="-120"/>
              </a:rPr>
              <a:t>Data Privacy</a:t>
            </a:r>
            <a:endParaRPr lang="en-US" sz="1150" dirty="0"/>
          </a:p>
        </p:txBody>
      </p:sp>
      <p:sp>
        <p:nvSpPr>
          <p:cNvPr id="31" name="Shape 29"/>
          <p:cNvSpPr/>
          <p:nvPr/>
        </p:nvSpPr>
        <p:spPr>
          <a:xfrm>
            <a:off x="2011680" y="3657600"/>
            <a:ext cx="2103120" cy="777240"/>
          </a:xfrm>
          <a:prstGeom prst="rect">
            <a:avLst/>
          </a:prstGeom>
          <a:solidFill>
            <a:srgbClr val="FFFFFF"/>
          </a:solidFill>
          <a:ln w="12700">
            <a:solidFill>
              <a:srgbClr val="E2E8F0"/>
            </a:solidFill>
            <a:prstDash val="solid"/>
          </a:ln>
        </p:spPr>
      </p:sp>
      <p:sp>
        <p:nvSpPr>
          <p:cNvPr id="32" name="Text 30"/>
          <p:cNvSpPr/>
          <p:nvPr/>
        </p:nvSpPr>
        <p:spPr>
          <a:xfrm>
            <a:off x="2066544" y="3657600"/>
            <a:ext cx="1993392" cy="777240"/>
          </a:xfrm>
          <a:prstGeom prst="rect">
            <a:avLst/>
          </a:prstGeom>
          <a:noFill/>
          <a:ln/>
        </p:spPr>
        <p:txBody>
          <a:bodyPr wrap="square" rtlCol="0" anchor="ctr"/>
          <a:lstStyle/>
          <a:p>
            <a:pPr algn="l" indent="0" marL="0">
              <a:buNone/>
            </a:pPr>
            <a:r>
              <a:rPr lang="en-US" sz="1150" dirty="0">
                <a:solidFill>
                  <a:srgbClr val="0F1B3C"/>
                </a:solidFill>
                <a:latin typeface="Calibri" pitchFamily="34" charset="0"/>
                <a:ea typeface="Calibri" pitchFamily="34" charset="-122"/>
                <a:cs typeface="Calibri" pitchFamily="34" charset="-120"/>
              </a:rPr>
              <a:t>View Password Column</a:t>
            </a:r>
            <a:endParaRPr lang="en-US" sz="1150" dirty="0"/>
          </a:p>
        </p:txBody>
      </p:sp>
      <p:sp>
        <p:nvSpPr>
          <p:cNvPr id="33" name="Shape 31"/>
          <p:cNvSpPr/>
          <p:nvPr/>
        </p:nvSpPr>
        <p:spPr>
          <a:xfrm>
            <a:off x="4114800" y="3657600"/>
            <a:ext cx="3017520" cy="777240"/>
          </a:xfrm>
          <a:prstGeom prst="rect">
            <a:avLst/>
          </a:prstGeom>
          <a:solidFill>
            <a:srgbClr val="FFFFFF"/>
          </a:solidFill>
          <a:ln w="12700">
            <a:solidFill>
              <a:srgbClr val="E2E8F0"/>
            </a:solidFill>
            <a:prstDash val="solid"/>
          </a:ln>
        </p:spPr>
      </p:sp>
      <p:sp>
        <p:nvSpPr>
          <p:cNvPr id="34" name="Text 32"/>
          <p:cNvSpPr/>
          <p:nvPr/>
        </p:nvSpPr>
        <p:spPr>
          <a:xfrm>
            <a:off x="4169664" y="3657600"/>
            <a:ext cx="2907792" cy="777240"/>
          </a:xfrm>
          <a:prstGeom prst="rect">
            <a:avLst/>
          </a:prstGeom>
          <a:noFill/>
          <a:ln/>
        </p:spPr>
        <p:txBody>
          <a:bodyPr wrap="square" rtlCol="0" anchor="ctr"/>
          <a:lstStyle/>
          <a:p>
            <a:pPr algn="l" indent="0" marL="0">
              <a:buNone/>
            </a:pPr>
            <a:r>
              <a:rPr lang="en-US" sz="1150" dirty="0">
                <a:solidFill>
                  <a:srgbClr val="0F1B3C"/>
                </a:solidFill>
                <a:latin typeface="Calibri" pitchFamily="34" charset="0"/>
                <a:ea typeface="Calibri" pitchFamily="34" charset="-122"/>
                <a:cs typeface="Calibri" pitchFamily="34" charset="-120"/>
              </a:rPr>
              <a:t>Encrypted Hash Shown (not plaintext)</a:t>
            </a:r>
            <a:endParaRPr lang="en-US" sz="1150" dirty="0"/>
          </a:p>
        </p:txBody>
      </p:sp>
      <p:sp>
        <p:nvSpPr>
          <p:cNvPr id="35" name="Shape 33"/>
          <p:cNvSpPr/>
          <p:nvPr/>
        </p:nvSpPr>
        <p:spPr>
          <a:xfrm>
            <a:off x="7132320" y="3657600"/>
            <a:ext cx="1005840" cy="777240"/>
          </a:xfrm>
          <a:prstGeom prst="rect">
            <a:avLst/>
          </a:prstGeom>
          <a:solidFill>
            <a:srgbClr val="FFFFFF"/>
          </a:solidFill>
          <a:ln w="12700">
            <a:solidFill>
              <a:srgbClr val="E2E8F0"/>
            </a:solidFill>
            <a:prstDash val="solid"/>
          </a:ln>
        </p:spPr>
      </p:sp>
      <p:sp>
        <p:nvSpPr>
          <p:cNvPr id="36" name="Text 34"/>
          <p:cNvSpPr/>
          <p:nvPr/>
        </p:nvSpPr>
        <p:spPr>
          <a:xfrm>
            <a:off x="7187184" y="3657600"/>
            <a:ext cx="896112" cy="777240"/>
          </a:xfrm>
          <a:prstGeom prst="rect">
            <a:avLst/>
          </a:prstGeom>
          <a:noFill/>
          <a:ln/>
        </p:spPr>
        <p:txBody>
          <a:bodyPr wrap="square" rtlCol="0" anchor="ctr"/>
          <a:lstStyle/>
          <a:p>
            <a:pPr algn="ctr" indent="0" marL="0">
              <a:buNone/>
            </a:pPr>
            <a:r>
              <a:rPr lang="en-US" sz="1300" b="1" dirty="0">
                <a:solidFill>
                  <a:srgbClr val="10B981"/>
                </a:solidFill>
                <a:latin typeface="Calibri" pitchFamily="34" charset="0"/>
                <a:ea typeface="Calibri" pitchFamily="34" charset="-122"/>
                <a:cs typeface="Calibri" pitchFamily="34" charset="-120"/>
              </a:rPr>
              <a:t>PASS</a:t>
            </a:r>
            <a:endParaRPr lang="en-US" sz="1300" dirty="0"/>
          </a:p>
        </p:txBody>
      </p:sp>
      <p:sp>
        <p:nvSpPr>
          <p:cNvPr id="37" name="Shape 35"/>
          <p:cNvSpPr/>
          <p:nvPr/>
        </p:nvSpPr>
        <p:spPr>
          <a:xfrm>
            <a:off x="2926080" y="4526280"/>
            <a:ext cx="3291840" cy="438912"/>
          </a:xfrm>
          <a:prstGeom prst="roundRect">
            <a:avLst>
              <a:gd name="adj" fmla="val 25000"/>
            </a:avLst>
          </a:prstGeom>
          <a:solidFill>
            <a:srgbClr val="ECFDF5"/>
          </a:solidFill>
          <a:ln w="25400">
            <a:solidFill>
              <a:srgbClr val="6EE7B7"/>
            </a:solidFill>
            <a:prstDash val="solid"/>
          </a:ln>
        </p:spPr>
      </p:sp>
      <p:sp>
        <p:nvSpPr>
          <p:cNvPr id="38" name="Text 36"/>
          <p:cNvSpPr/>
          <p:nvPr/>
        </p:nvSpPr>
        <p:spPr>
          <a:xfrm>
            <a:off x="2926080" y="4526280"/>
            <a:ext cx="3291840" cy="438912"/>
          </a:xfrm>
          <a:prstGeom prst="rect">
            <a:avLst/>
          </a:prstGeom>
          <a:noFill/>
          <a:ln/>
        </p:spPr>
        <p:txBody>
          <a:bodyPr wrap="square" lIns="0" tIns="0" rIns="0" bIns="0" rtlCol="0" anchor="ctr"/>
          <a:lstStyle/>
          <a:p>
            <a:pPr algn="ctr" indent="0" marL="0">
              <a:buNone/>
            </a:pPr>
            <a:r>
              <a:rPr lang="en-US" sz="1300" b="1" dirty="0">
                <a:solidFill>
                  <a:srgbClr val="10B981"/>
                </a:solidFill>
                <a:latin typeface="Calibri" pitchFamily="34" charset="0"/>
                <a:ea typeface="Calibri" pitchFamily="34" charset="-122"/>
                <a:cs typeface="Calibri" pitchFamily="34" charset="-120"/>
              </a:rPr>
              <a:t>✓  All 3 Test Cases Passed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F24"/>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1E3A8A">
              <a:alpha val="40000"/>
            </a:srgbClr>
          </a:solidFill>
          <a:ln w="12700">
            <a:solidFill>
              <a:srgbClr val="1E3A8A"/>
            </a:solidFill>
            <a:prstDash val="solid"/>
          </a:ln>
        </p:spPr>
      </p:sp>
      <p:sp>
        <p:nvSpPr>
          <p:cNvPr id="3" name="Shape 1"/>
          <p:cNvSpPr/>
          <p:nvPr/>
        </p:nvSpPr>
        <p:spPr>
          <a:xfrm>
            <a:off x="6858000" y="2743200"/>
            <a:ext cx="3657600" cy="3657600"/>
          </a:xfrm>
          <a:prstGeom prst="ellipse">
            <a:avLst/>
          </a:prstGeom>
          <a:solidFill>
            <a:srgbClr val="1E3A8A">
              <a:alpha val="35000"/>
            </a:srgbClr>
          </a:solidFill>
          <a:ln w="12700">
            <a:solidFill>
              <a:srgbClr val="1E3A8A"/>
            </a:solidFill>
            <a:prstDash val="solid"/>
          </a:ln>
        </p:spPr>
      </p:sp>
      <p:sp>
        <p:nvSpPr>
          <p:cNvPr id="4" name="Text 2"/>
          <p:cNvSpPr/>
          <p:nvPr/>
        </p:nvSpPr>
        <p:spPr>
          <a:xfrm>
            <a:off x="457200" y="594360"/>
            <a:ext cx="8229600" cy="548640"/>
          </a:xfrm>
          <a:prstGeom prst="rect">
            <a:avLst/>
          </a:prstGeom>
          <a:noFill/>
          <a:ln/>
        </p:spPr>
        <p:txBody>
          <a:bodyPr wrap="square" rtlCol="0" anchor="ctr"/>
          <a:lstStyle/>
          <a:p>
            <a:pPr algn="ctr" indent="0" marL="0">
              <a:buNone/>
            </a:pPr>
            <a:r>
              <a:rPr lang="en-US" sz="1800" i="1" dirty="0">
                <a:solidFill>
                  <a:srgbClr val="60A5FA"/>
                </a:solidFill>
                <a:latin typeface="Calibri" pitchFamily="34" charset="0"/>
                <a:ea typeface="Calibri" pitchFamily="34" charset="-122"/>
                <a:cs typeface="Calibri" pitchFamily="34" charset="-120"/>
              </a:rPr>
              <a:t>Conclusion</a:t>
            </a:r>
            <a:endParaRPr lang="en-US" sz="1800" dirty="0"/>
          </a:p>
        </p:txBody>
      </p:sp>
      <p:sp>
        <p:nvSpPr>
          <p:cNvPr id="5" name="Text 3"/>
          <p:cNvSpPr/>
          <p:nvPr/>
        </p:nvSpPr>
        <p:spPr>
          <a:xfrm>
            <a:off x="731520" y="1188720"/>
            <a:ext cx="7680960" cy="201168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The Online Shopping Database effectively balances</a:t>
            </a:r>
            <a:endParaRPr lang="en-US" sz="2200" dirty="0"/>
          </a:p>
          <a:p>
            <a:pPr algn="ctr" indent="0" marL="0">
              <a:buNone/>
            </a:pPr>
            <a:r>
              <a:rPr lang="en-US" sz="2200" dirty="0">
                <a:solidFill>
                  <a:srgbClr val="FFFFFF"/>
                </a:solidFill>
                <a:latin typeface="Calibri" pitchFamily="34" charset="0"/>
                <a:ea typeface="Calibri" pitchFamily="34" charset="-122"/>
                <a:cs typeface="Calibri" pitchFamily="34" charset="-120"/>
              </a:rPr>
              <a:t>accessibility for customers with high-level security</a:t>
            </a:r>
            <a:endParaRPr lang="en-US" sz="2200" dirty="0"/>
          </a:p>
          <a:p>
            <a:pPr algn="ctr" indent="0" marL="0">
              <a:buNone/>
            </a:pPr>
            <a:r>
              <a:rPr lang="en-US" sz="2200" dirty="0">
                <a:solidFill>
                  <a:srgbClr val="FFFFFF"/>
                </a:solidFill>
                <a:latin typeface="Calibri" pitchFamily="34" charset="0"/>
                <a:ea typeface="Calibri" pitchFamily="34" charset="-122"/>
                <a:cs typeface="Calibri" pitchFamily="34" charset="-120"/>
              </a:rPr>
              <a:t>for administrative operations,</a:t>
            </a:r>
            <a:endParaRPr lang="en-US" sz="2200" dirty="0"/>
          </a:p>
          <a:p>
            <a:pPr algn="ctr" indent="0" marL="0">
              <a:buNone/>
            </a:pPr>
            <a:r>
              <a:rPr lang="en-US" sz="2200" dirty="0">
                <a:solidFill>
                  <a:srgbClr val="FFFFFF"/>
                </a:solidFill>
                <a:latin typeface="Calibri" pitchFamily="34" charset="0"/>
                <a:ea typeface="Calibri" pitchFamily="34" charset="-122"/>
                <a:cs typeface="Calibri" pitchFamily="34" charset="-120"/>
              </a:rPr>
              <a:t>ensuring a secure and reliable e-commerce environment.</a:t>
            </a:r>
            <a:endParaRPr lang="en-US" sz="2200" dirty="0"/>
          </a:p>
        </p:txBody>
      </p:sp>
      <p:sp>
        <p:nvSpPr>
          <p:cNvPr id="6" name="Shape 4"/>
          <p:cNvSpPr/>
          <p:nvPr/>
        </p:nvSpPr>
        <p:spPr>
          <a:xfrm>
            <a:off x="1234440" y="3337560"/>
            <a:ext cx="685800" cy="685800"/>
          </a:xfrm>
          <a:prstGeom prst="ellipse">
            <a:avLst/>
          </a:prstGeom>
          <a:solidFill>
            <a:srgbClr val="1E3A8A"/>
          </a:solidFill>
          <a:ln w="25400">
            <a:solidFill>
              <a:srgbClr val="60A5FA"/>
            </a:solidFill>
            <a:prstDash val="solid"/>
          </a:ln>
        </p:spPr>
      </p:sp>
      <p:pic>
        <p:nvPicPr>
          <p:cNvPr id="7" name="Image 0" descr="preencoded.png">    </p:cNvPr>
          <p:cNvPicPr>
            <a:picLocks noChangeAspect="1"/>
          </p:cNvPicPr>
          <p:nvPr/>
        </p:nvPicPr>
        <p:blipFill>
          <a:blip r:embed="rId1"/>
          <a:stretch>
            <a:fillRect/>
          </a:stretch>
        </p:blipFill>
        <p:spPr>
          <a:xfrm>
            <a:off x="1307592" y="3410712"/>
            <a:ext cx="530352" cy="530352"/>
          </a:xfrm>
          <a:prstGeom prst="rect">
            <a:avLst/>
          </a:prstGeom>
        </p:spPr>
      </p:pic>
      <p:sp>
        <p:nvSpPr>
          <p:cNvPr id="8" name="Text 5"/>
          <p:cNvSpPr/>
          <p:nvPr/>
        </p:nvSpPr>
        <p:spPr>
          <a:xfrm>
            <a:off x="731520" y="4114800"/>
            <a:ext cx="173736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Relational Model</a:t>
            </a:r>
            <a:endParaRPr lang="en-US" sz="1200" dirty="0"/>
          </a:p>
        </p:txBody>
      </p:sp>
      <p:sp>
        <p:nvSpPr>
          <p:cNvPr id="9" name="Text 6"/>
          <p:cNvSpPr/>
          <p:nvPr/>
        </p:nvSpPr>
        <p:spPr>
          <a:xfrm>
            <a:off x="731520" y="4434840"/>
            <a:ext cx="1737360" cy="256032"/>
          </a:xfrm>
          <a:prstGeom prst="rect">
            <a:avLst/>
          </a:prstGeom>
          <a:noFill/>
          <a:ln/>
        </p:spPr>
        <p:txBody>
          <a:bodyPr wrap="square" rtlCol="0" anchor="ctr"/>
          <a:lstStyle/>
          <a:p>
            <a:pPr algn="ctr" indent="0" marL="0">
              <a:buNone/>
            </a:pPr>
            <a:r>
              <a:rPr lang="en-US" sz="1050" dirty="0">
                <a:solidFill>
                  <a:srgbClr val="93C5FD"/>
                </a:solidFill>
                <a:latin typeface="Calibri" pitchFamily="34" charset="0"/>
                <a:ea typeface="Calibri" pitchFamily="34" charset="-122"/>
                <a:cs typeface="Calibri" pitchFamily="34" charset="-120"/>
              </a:rPr>
              <a:t>Data Integrity</a:t>
            </a:r>
            <a:endParaRPr lang="en-US" sz="1050" dirty="0"/>
          </a:p>
        </p:txBody>
      </p:sp>
      <p:sp>
        <p:nvSpPr>
          <p:cNvPr id="10" name="Shape 7"/>
          <p:cNvSpPr/>
          <p:nvPr/>
        </p:nvSpPr>
        <p:spPr>
          <a:xfrm>
            <a:off x="3977640" y="3337560"/>
            <a:ext cx="685800" cy="685800"/>
          </a:xfrm>
          <a:prstGeom prst="ellipse">
            <a:avLst/>
          </a:prstGeom>
          <a:solidFill>
            <a:srgbClr val="1E3A8A"/>
          </a:solidFill>
          <a:ln w="25400">
            <a:solidFill>
              <a:srgbClr val="A78BFA"/>
            </a:solidFill>
            <a:prstDash val="solid"/>
          </a:ln>
        </p:spPr>
      </p:sp>
      <p:pic>
        <p:nvPicPr>
          <p:cNvPr id="11" name="Image 1" descr="preencoded.png">    </p:cNvPr>
          <p:cNvPicPr>
            <a:picLocks noChangeAspect="1"/>
          </p:cNvPicPr>
          <p:nvPr/>
        </p:nvPicPr>
        <p:blipFill>
          <a:blip r:embed="rId2"/>
          <a:stretch>
            <a:fillRect/>
          </a:stretch>
        </p:blipFill>
        <p:spPr>
          <a:xfrm>
            <a:off x="4050792" y="3410712"/>
            <a:ext cx="530352" cy="530352"/>
          </a:xfrm>
          <a:prstGeom prst="rect">
            <a:avLst/>
          </a:prstGeom>
        </p:spPr>
      </p:pic>
      <p:sp>
        <p:nvSpPr>
          <p:cNvPr id="12" name="Text 8"/>
          <p:cNvSpPr/>
          <p:nvPr/>
        </p:nvSpPr>
        <p:spPr>
          <a:xfrm>
            <a:off x="3474720" y="4114800"/>
            <a:ext cx="173736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SHA-256 Hashing</a:t>
            </a:r>
            <a:endParaRPr lang="en-US" sz="1200" dirty="0"/>
          </a:p>
        </p:txBody>
      </p:sp>
      <p:sp>
        <p:nvSpPr>
          <p:cNvPr id="13" name="Text 9"/>
          <p:cNvSpPr/>
          <p:nvPr/>
        </p:nvSpPr>
        <p:spPr>
          <a:xfrm>
            <a:off x="3474720" y="4434840"/>
            <a:ext cx="1737360" cy="256032"/>
          </a:xfrm>
          <a:prstGeom prst="rect">
            <a:avLst/>
          </a:prstGeom>
          <a:noFill/>
          <a:ln/>
        </p:spPr>
        <p:txBody>
          <a:bodyPr wrap="square" rtlCol="0" anchor="ctr"/>
          <a:lstStyle/>
          <a:p>
            <a:pPr algn="ctr" indent="0" marL="0">
              <a:buNone/>
            </a:pPr>
            <a:r>
              <a:rPr lang="en-US" sz="1050" dirty="0">
                <a:solidFill>
                  <a:srgbClr val="93C5FD"/>
                </a:solidFill>
                <a:latin typeface="Calibri" pitchFamily="34" charset="0"/>
                <a:ea typeface="Calibri" pitchFamily="34" charset="-122"/>
                <a:cs typeface="Calibri" pitchFamily="34" charset="-120"/>
              </a:rPr>
              <a:t>Password Privacy</a:t>
            </a:r>
            <a:endParaRPr lang="en-US" sz="1050" dirty="0"/>
          </a:p>
        </p:txBody>
      </p:sp>
      <p:sp>
        <p:nvSpPr>
          <p:cNvPr id="14" name="Shape 10"/>
          <p:cNvSpPr/>
          <p:nvPr/>
        </p:nvSpPr>
        <p:spPr>
          <a:xfrm>
            <a:off x="6720840" y="3337560"/>
            <a:ext cx="685800" cy="685800"/>
          </a:xfrm>
          <a:prstGeom prst="ellipse">
            <a:avLst/>
          </a:prstGeom>
          <a:solidFill>
            <a:srgbClr val="1E3A8A"/>
          </a:solidFill>
          <a:ln w="25400">
            <a:solidFill>
              <a:srgbClr val="10B981"/>
            </a:solidFill>
            <a:prstDash val="solid"/>
          </a:ln>
        </p:spPr>
      </p:sp>
      <p:pic>
        <p:nvPicPr>
          <p:cNvPr id="15" name="Image 2" descr="preencoded.png">    </p:cNvPr>
          <p:cNvPicPr>
            <a:picLocks noChangeAspect="1"/>
          </p:cNvPicPr>
          <p:nvPr/>
        </p:nvPicPr>
        <p:blipFill>
          <a:blip r:embed="rId3"/>
          <a:stretch>
            <a:fillRect/>
          </a:stretch>
        </p:blipFill>
        <p:spPr>
          <a:xfrm>
            <a:off x="6793992" y="3410712"/>
            <a:ext cx="530352" cy="530352"/>
          </a:xfrm>
          <a:prstGeom prst="rect">
            <a:avLst/>
          </a:prstGeom>
        </p:spPr>
      </p:pic>
      <p:sp>
        <p:nvSpPr>
          <p:cNvPr id="16" name="Text 11"/>
          <p:cNvSpPr/>
          <p:nvPr/>
        </p:nvSpPr>
        <p:spPr>
          <a:xfrm>
            <a:off x="6217920" y="4114800"/>
            <a:ext cx="173736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RBAC + REVOKE</a:t>
            </a:r>
            <a:endParaRPr lang="en-US" sz="1200" dirty="0"/>
          </a:p>
        </p:txBody>
      </p:sp>
      <p:sp>
        <p:nvSpPr>
          <p:cNvPr id="17" name="Text 12"/>
          <p:cNvSpPr/>
          <p:nvPr/>
        </p:nvSpPr>
        <p:spPr>
          <a:xfrm>
            <a:off x="6217920" y="4434840"/>
            <a:ext cx="1737360" cy="256032"/>
          </a:xfrm>
          <a:prstGeom prst="rect">
            <a:avLst/>
          </a:prstGeom>
          <a:noFill/>
          <a:ln/>
        </p:spPr>
        <p:txBody>
          <a:bodyPr wrap="square" rtlCol="0" anchor="ctr"/>
          <a:lstStyle/>
          <a:p>
            <a:pPr algn="ctr" indent="0" marL="0">
              <a:buNone/>
            </a:pPr>
            <a:r>
              <a:rPr lang="en-US" sz="1050" dirty="0">
                <a:solidFill>
                  <a:srgbClr val="93C5FD"/>
                </a:solidFill>
                <a:latin typeface="Calibri" pitchFamily="34" charset="0"/>
                <a:ea typeface="Calibri" pitchFamily="34" charset="-122"/>
                <a:cs typeface="Calibri" pitchFamily="34" charset="-120"/>
              </a:rPr>
              <a:t>Access Control</a:t>
            </a:r>
            <a:endParaRPr lang="en-US" sz="1050" dirty="0"/>
          </a:p>
        </p:txBody>
      </p:sp>
      <p:sp>
        <p:nvSpPr>
          <p:cNvPr id="18" name="Text 13"/>
          <p:cNvSpPr/>
          <p:nvPr/>
        </p:nvSpPr>
        <p:spPr>
          <a:xfrm>
            <a:off x="457200" y="4773168"/>
            <a:ext cx="8229600" cy="347472"/>
          </a:xfrm>
          <a:prstGeom prst="rect">
            <a:avLst/>
          </a:prstGeom>
          <a:noFill/>
          <a:ln/>
        </p:spPr>
        <p:txBody>
          <a:bodyPr wrap="square" rtlCol="0" anchor="ctr"/>
          <a:lstStyle/>
          <a:p>
            <a:pPr algn="ctr" indent="0" marL="0">
              <a:buNone/>
            </a:pPr>
            <a:r>
              <a:rPr lang="en-US" sz="1500" dirty="0">
                <a:solidFill>
                  <a:srgbClr val="93C5FD"/>
                </a:solidFill>
                <a:latin typeface="Calibri" pitchFamily="34" charset="0"/>
                <a:ea typeface="Calibri" pitchFamily="34" charset="-122"/>
                <a:cs typeface="Calibri" pitchFamily="34" charset="-120"/>
              </a:rPr>
              <a:t>Thank You  •  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Shopping Database</dc:title>
  <dc:subject>PptxGenJS Presentation</dc:subject>
  <dc:creator>PptxGenJS</dc:creator>
  <cp:lastModifiedBy>PptxGenJS</cp:lastModifiedBy>
  <cp:revision>1</cp:revision>
  <dcterms:created xsi:type="dcterms:W3CDTF">2026-05-06T08:39:49Z</dcterms:created>
  <dcterms:modified xsi:type="dcterms:W3CDTF">2026-05-06T08:39:49Z</dcterms:modified>
</cp:coreProperties>
</file>